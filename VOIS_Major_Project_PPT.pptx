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DF883A-7A35-47FD-BFA3-36C82D7495E4}" v="1" dt="2026-09-10T14:43:45.62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1" d="100"/>
          <a:sy n="111" d="100"/>
        </p:scale>
        <p:origin x="474"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hika Maurya" userId="15375bb583b97ae8" providerId="LiveId" clId="{57093025-59F5-4C73-B914-CD9989A5125F}"/>
    <pc:docChg chg="modSld">
      <pc:chgData name="Anshika Maurya" userId="15375bb583b97ae8" providerId="LiveId" clId="{57093025-59F5-4C73-B914-CD9989A5125F}" dt="2026-09-10T14:46:45.513" v="84" actId="1076"/>
      <pc:docMkLst>
        <pc:docMk/>
      </pc:docMkLst>
      <pc:sldChg chg="modSp mod">
        <pc:chgData name="Anshika Maurya" userId="15375bb583b97ae8" providerId="LiveId" clId="{57093025-59F5-4C73-B914-CD9989A5125F}" dt="2026-09-10T14:43:59.539" v="80" actId="14100"/>
        <pc:sldMkLst>
          <pc:docMk/>
          <pc:sldMk cId="3863610428" sldId="342"/>
        </pc:sldMkLst>
        <pc:spChg chg="mod">
          <ac:chgData name="Anshika Maurya" userId="15375bb583b97ae8" providerId="LiveId" clId="{57093025-59F5-4C73-B914-CD9989A5125F}" dt="2026-09-10T14:43:59.539" v="80" actId="14100"/>
          <ac:spMkLst>
            <pc:docMk/>
            <pc:sldMk cId="3863610428" sldId="342"/>
            <ac:spMk id="3" creationId="{5F0B37E4-66B1-8633-7266-68B321742757}"/>
          </ac:spMkLst>
        </pc:spChg>
      </pc:sldChg>
      <pc:sldChg chg="addSp modSp mod">
        <pc:chgData name="Anshika Maurya" userId="15375bb583b97ae8" providerId="LiveId" clId="{57093025-59F5-4C73-B914-CD9989A5125F}" dt="2026-09-10T14:46:45.513" v="84" actId="1076"/>
        <pc:sldMkLst>
          <pc:docMk/>
          <pc:sldMk cId="3962802212" sldId="343"/>
        </pc:sldMkLst>
        <pc:picChg chg="add mod">
          <ac:chgData name="Anshika Maurya" userId="15375bb583b97ae8" providerId="LiveId" clId="{57093025-59F5-4C73-B914-CD9989A5125F}" dt="2026-09-10T14:46:45.513" v="84" actId="1076"/>
          <ac:picMkLst>
            <pc:docMk/>
            <pc:sldMk cId="3962802212" sldId="343"/>
            <ac:picMk id="3" creationId="{B2891F78-18FB-0D09-817B-3DE9FC07E37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nshikamaurya7/Seasonal-Agriculture-Performance-Analysis/tree/main"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810296"/>
            <a:ext cx="4998720" cy="743448"/>
          </a:xfrm>
        </p:spPr>
        <p:txBody>
          <a:bodyPr>
            <a:normAutofit/>
          </a:bodyPr>
          <a:lstStyle/>
          <a:p>
            <a:r>
              <a:rPr lang="en-GB" sz="2400" dirty="0"/>
              <a:t>Project Title </a:t>
            </a:r>
            <a:r>
              <a:rPr lang="en-GB" sz="3200" dirty="0"/>
              <a:t>-</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58997" y="4575460"/>
            <a:ext cx="5943727" cy="369332"/>
          </a:xfrm>
          <a:prstGeom prst="rect">
            <a:avLst/>
          </a:prstGeom>
          <a:noFill/>
        </p:spPr>
        <p:txBody>
          <a:bodyPr wrap="square" rtlCol="0">
            <a:spAutoFit/>
          </a:bodyPr>
          <a:lstStyle/>
          <a:p>
            <a:r>
              <a:rPr lang="en-US" b="1" dirty="0"/>
              <a:t>AICTE Student ID – STU6a1863a8001779983334</a:t>
            </a:r>
          </a:p>
        </p:txBody>
      </p:sp>
      <p:sp>
        <p:nvSpPr>
          <p:cNvPr id="5" name="TextBox 4">
            <a:extLst>
              <a:ext uri="{FF2B5EF4-FFF2-40B4-BE49-F238E27FC236}">
                <a16:creationId xmlns:a16="http://schemas.microsoft.com/office/drawing/2014/main" id="{A6EED1F1-C4A9-79B5-E285-A9D333A56D52}"/>
              </a:ext>
            </a:extLst>
          </p:cNvPr>
          <p:cNvSpPr txBox="1"/>
          <p:nvPr/>
        </p:nvSpPr>
        <p:spPr>
          <a:xfrm>
            <a:off x="2819082" y="2964680"/>
            <a:ext cx="4833503" cy="369332"/>
          </a:xfrm>
          <a:prstGeom prst="rect">
            <a:avLst/>
          </a:prstGeom>
          <a:noFill/>
        </p:spPr>
        <p:txBody>
          <a:bodyPr wrap="none" rtlCol="0">
            <a:spAutoFit/>
          </a:bodyPr>
          <a:lstStyle/>
          <a:p>
            <a:r>
              <a:rPr lang="en-US" b="1" dirty="0"/>
              <a:t>Seasonal Agriculture Performance Analysis </a:t>
            </a:r>
            <a:endParaRPr lang="en-IN" b="1" dirty="0"/>
          </a:p>
        </p:txBody>
      </p:sp>
      <p:sp>
        <p:nvSpPr>
          <p:cNvPr id="8" name="Text Placeholder 7">
            <a:extLst>
              <a:ext uri="{FF2B5EF4-FFF2-40B4-BE49-F238E27FC236}">
                <a16:creationId xmlns:a16="http://schemas.microsoft.com/office/drawing/2014/main" id="{1A3A093E-6668-5140-364F-F3813DD2BE42}"/>
              </a:ext>
            </a:extLst>
          </p:cNvPr>
          <p:cNvSpPr>
            <a:spLocks noGrp="1"/>
          </p:cNvSpPr>
          <p:nvPr>
            <p:ph type="body" sz="quarter" idx="11"/>
          </p:nvPr>
        </p:nvSpPr>
        <p:spPr>
          <a:xfrm>
            <a:off x="675957" y="3523988"/>
            <a:ext cx="7049446" cy="861497"/>
          </a:xfrm>
        </p:spPr>
        <p:txBody>
          <a:bodyPr>
            <a:normAutofit fontScale="85000" lnSpcReduction="10000"/>
          </a:bodyPr>
          <a:lstStyle/>
          <a:p>
            <a:r>
              <a:rPr lang="en-US" dirty="0"/>
              <a:t>Student Name – Anshika Maurya </a:t>
            </a:r>
          </a:p>
          <a:p>
            <a:r>
              <a:rPr lang="en-US" dirty="0"/>
              <a:t>College Name – Babasaheb Bhimrao Ambedkar Central University</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r>
              <a:rPr lang="en-GB" sz="2800" dirty="0"/>
              <a:t>Agricultural performance changes with seasons because of differences in rainfall, temperature, soil conditions, resource usage, farming practices and market conditions. However, raw agricultural data does not clearly show how these factors affect crop yield, production, water usage and profitability across different seasons.</a:t>
            </a:r>
          </a:p>
          <a:p>
            <a:r>
              <a:rPr lang="en-GB" sz="2800" dirty="0"/>
              <a:t>This project aims to analyse agricultural data across Kharif, Rabi and Zaid seasons to identify important patterns, compare performance and understand the factors associated with seasonal agricultural outcomes.</a:t>
            </a:r>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t>
            </a:r>
            <a:br>
              <a:rPr lang="en-GB" dirty="0"/>
            </a:br>
            <a:r>
              <a:rPr lang="en-GB" sz="1300" dirty="0"/>
              <a:t>This project analyses </a:t>
            </a:r>
            <a:r>
              <a:rPr lang="en-GB" sz="1600" dirty="0"/>
              <a:t>agricultural data from different seasons to understand variations in crop performance. The analysis includes data cleaning, exploratory data analysis, seasonal comparison and visualization.</a:t>
            </a:r>
            <a:br>
              <a:rPr lang="en-GB" sz="1600" dirty="0"/>
            </a:br>
            <a:r>
              <a:rPr lang="en-GB" sz="1600" dirty="0"/>
              <a:t>The project examines factors such as rainfall, temperature, soil conditions, irrigation, fertilizer usage, crop yield, production, water usage, revenue and profit. The results are used to identify seasonal patterns and provide data-based insights for better agriculture planning.</a:t>
            </a:r>
            <a:br>
              <a:rPr lang="en-GB" dirty="0"/>
            </a:br>
            <a:br>
              <a:rPr lang="en-GB" dirty="0"/>
            </a:br>
            <a:br>
              <a:rPr lang="en-GB" dirty="0"/>
            </a:br>
            <a:r>
              <a:rPr lang="en-GB" dirty="0"/>
              <a:t> </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GB" sz="1800" dirty="0"/>
              <a:t>Farmers, agricultural planners, government agricultural departments, agricultural analysts and agribusinesses can use the insights from this analysis for better seasonal planning and resource management.</a:t>
            </a: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E0091D4C-0F97-46DE-A6FB-C1CC8B597F46}"/>
              </a:ext>
            </a:extLst>
          </p:cNvPr>
          <p:cNvSpPr>
            <a:spLocks noGrp="1" noChangeArrowheads="1"/>
          </p:cNvSpPr>
          <p:nvPr>
            <p:ph type="body" sz="quarter" idx="12"/>
          </p:nvPr>
        </p:nvSpPr>
        <p:spPr bwMode="auto">
          <a:xfrm>
            <a:off x="815068" y="1647847"/>
            <a:ext cx="4278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Python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Jupyter</a:t>
            </a:r>
            <a:r>
              <a:rPr kumimoji="0" lang="en-US" altLang="en-US" sz="1800" b="1" i="0" u="none" strike="noStrike" cap="none" normalizeH="0" baseline="0" dirty="0">
                <a:ln>
                  <a:noFill/>
                </a:ln>
                <a:solidFill>
                  <a:schemeClr val="tx1"/>
                </a:solidFill>
                <a:effectLst/>
                <a:latin typeface="Arial" panose="020B0604020202020204" pitchFamily="34" charset="0"/>
              </a:rPr>
              <a:t> Notebook</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Pandas</a:t>
            </a:r>
            <a:r>
              <a:rPr kumimoji="0" lang="en-US" altLang="en-US" sz="1800" b="0" i="0" u="none" strike="noStrike" cap="none" normalizeH="0" baseline="0" dirty="0">
                <a:ln>
                  <a:noFill/>
                </a:ln>
                <a:solidFill>
                  <a:schemeClr val="tx1"/>
                </a:solidFill>
                <a:effectLst/>
                <a:latin typeface="Arial" panose="020B0604020202020204" pitchFamily="34" charset="0"/>
              </a:rPr>
              <a:t> — Data cleaning and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NumPy</a:t>
            </a:r>
            <a:r>
              <a:rPr kumimoji="0" lang="en-US" altLang="en-US" sz="1800" b="0" i="0" u="none" strike="noStrike" cap="none" normalizeH="0" baseline="0" dirty="0">
                <a:ln>
                  <a:noFill/>
                </a:ln>
                <a:solidFill>
                  <a:schemeClr val="tx1"/>
                </a:solidFill>
                <a:effectLst/>
                <a:latin typeface="Arial" panose="020B0604020202020204" pitchFamily="34" charset="0"/>
              </a:rPr>
              <a:t> — </a:t>
            </a:r>
            <a:r>
              <a:rPr lang="en-US" altLang="en-US" sz="1800" dirty="0">
                <a:solidFill>
                  <a:schemeClr val="tx1"/>
                </a:solidFill>
                <a:latin typeface="Arial" panose="020B0604020202020204" pitchFamily="34" charset="0"/>
              </a:rPr>
              <a:t>N</a:t>
            </a:r>
            <a:r>
              <a:rPr kumimoji="0" lang="en-US" altLang="en-US" sz="1800" b="0" i="0" u="none" strike="noStrike" cap="none" normalizeH="0" baseline="0" dirty="0">
                <a:ln>
                  <a:noFill/>
                </a:ln>
                <a:solidFill>
                  <a:schemeClr val="tx1"/>
                </a:solidFill>
                <a:effectLst/>
                <a:latin typeface="Arial" panose="020B0604020202020204" pitchFamily="34" charset="0"/>
              </a:rPr>
              <a:t>umerical operations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Matplotlib</a:t>
            </a:r>
            <a:r>
              <a:rPr kumimoji="0" lang="en-US" altLang="en-US" sz="1800" b="0" i="0" u="none" strike="noStrike" cap="none" normalizeH="0" baseline="0" dirty="0">
                <a:ln>
                  <a:noFill/>
                </a:ln>
                <a:solidFill>
                  <a:schemeClr val="tx1"/>
                </a:solidFill>
                <a:effectLst/>
                <a:latin typeface="Arial" panose="020B0604020202020204" pitchFamily="34" charset="0"/>
              </a:rPr>
              <a:t> — Data visualization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Seaborn</a:t>
            </a:r>
            <a:r>
              <a:rPr kumimoji="0" lang="en-US" altLang="en-US" sz="1800" b="0" i="0" u="none" strike="noStrike" cap="none" normalizeH="0" baseline="0" dirty="0">
                <a:ln>
                  <a:noFill/>
                </a:ln>
                <a:solidFill>
                  <a:schemeClr val="tx1"/>
                </a:solidFill>
                <a:effectLst/>
                <a:latin typeface="Arial" panose="020B0604020202020204" pitchFamily="34" charset="0"/>
              </a:rPr>
              <a:t> — Statistical visualization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5" y="1402697"/>
            <a:ext cx="1238676" cy="538752"/>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052" name="Picture 4">
            <a:extLst>
              <a:ext uri="{FF2B5EF4-FFF2-40B4-BE49-F238E27FC236}">
                <a16:creationId xmlns:a16="http://schemas.microsoft.com/office/drawing/2014/main" id="{FA4D8B1A-0CAC-47E8-ADFF-B91BB1235F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982" y="1201586"/>
            <a:ext cx="6457950" cy="44672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4DCE09B-294C-4448-8BF8-592FACAB8998}"/>
              </a:ext>
            </a:extLst>
          </p:cNvPr>
          <p:cNvSpPr/>
          <p:nvPr/>
        </p:nvSpPr>
        <p:spPr>
          <a:xfrm>
            <a:off x="7274379" y="1820636"/>
            <a:ext cx="3804558" cy="2092881"/>
          </a:xfrm>
          <a:prstGeom prst="rect">
            <a:avLst/>
          </a:prstGeom>
        </p:spPr>
        <p:txBody>
          <a:bodyPr wrap="square">
            <a:spAutoFit/>
          </a:bodyPr>
          <a:lstStyle/>
          <a:p>
            <a:r>
              <a:rPr lang="en-GB" sz="1000" dirty="0" err="1"/>
              <a:t>plt.figure</a:t>
            </a:r>
            <a:r>
              <a:rPr lang="en-GB" sz="1000" dirty="0"/>
              <a:t>(</a:t>
            </a:r>
            <a:r>
              <a:rPr lang="en-GB" sz="1000" dirty="0" err="1"/>
              <a:t>figsize</a:t>
            </a:r>
            <a:r>
              <a:rPr lang="en-GB" sz="1000" dirty="0"/>
              <a:t>=(8,5))</a:t>
            </a:r>
          </a:p>
          <a:p>
            <a:endParaRPr lang="en-GB" sz="1000" dirty="0"/>
          </a:p>
          <a:p>
            <a:r>
              <a:rPr lang="en-GB" sz="1000" dirty="0" err="1"/>
              <a:t>sns.barplot</a:t>
            </a:r>
            <a:r>
              <a:rPr lang="en-GB" sz="1000" dirty="0"/>
              <a:t>(</a:t>
            </a:r>
          </a:p>
          <a:p>
            <a:r>
              <a:rPr lang="en-GB" sz="1000" dirty="0"/>
              <a:t>    data=df,</a:t>
            </a:r>
          </a:p>
          <a:p>
            <a:r>
              <a:rPr lang="en-GB" sz="1000" dirty="0"/>
              <a:t>    x="Season",</a:t>
            </a:r>
          </a:p>
          <a:p>
            <a:r>
              <a:rPr lang="en-GB" sz="1000" dirty="0"/>
              <a:t>    y="</a:t>
            </a:r>
            <a:r>
              <a:rPr lang="en-GB" sz="1000" dirty="0" err="1"/>
              <a:t>Yield_Tonnes_Ha</a:t>
            </a:r>
            <a:r>
              <a:rPr lang="en-GB" sz="1000" dirty="0"/>
              <a:t>",</a:t>
            </a:r>
          </a:p>
          <a:p>
            <a:r>
              <a:rPr lang="en-GB" sz="1000" dirty="0"/>
              <a:t>    estimator="mean"</a:t>
            </a:r>
          </a:p>
          <a:p>
            <a:r>
              <a:rPr lang="en-GB" sz="1000" dirty="0"/>
              <a:t>)</a:t>
            </a:r>
          </a:p>
          <a:p>
            <a:endParaRPr lang="en-GB" sz="1000" dirty="0"/>
          </a:p>
          <a:p>
            <a:r>
              <a:rPr lang="en-GB" sz="1000" dirty="0" err="1"/>
              <a:t>plt.title</a:t>
            </a:r>
            <a:r>
              <a:rPr lang="en-GB" sz="1000" dirty="0"/>
              <a:t>("Average Yield by Season")</a:t>
            </a:r>
          </a:p>
          <a:p>
            <a:r>
              <a:rPr lang="en-GB" sz="1000" dirty="0" err="1"/>
              <a:t>plt.xlabel</a:t>
            </a:r>
            <a:r>
              <a:rPr lang="en-GB" sz="1000" dirty="0"/>
              <a:t>("Season")</a:t>
            </a:r>
          </a:p>
          <a:p>
            <a:r>
              <a:rPr lang="en-GB" sz="1000" dirty="0" err="1"/>
              <a:t>plt.ylabel</a:t>
            </a:r>
            <a:r>
              <a:rPr lang="en-GB" sz="1000" dirty="0"/>
              <a:t>("Average Yield (Tonnes/Ha)")</a:t>
            </a:r>
          </a:p>
          <a:p>
            <a:r>
              <a:rPr lang="en-GB" sz="1000" dirty="0" err="1"/>
              <a:t>plt.show</a:t>
            </a:r>
            <a:r>
              <a:rPr lang="en-GB" sz="1000" dirty="0"/>
              <a: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320983" y="1275371"/>
            <a:ext cx="2030332" cy="3246413"/>
          </a:xfrm>
        </p:spPr>
        <p:txBody>
          <a:bodyPr>
            <a:noAutofit/>
          </a:bodyPr>
          <a:lstStyle/>
          <a:p>
            <a:pPr marL="0" indent="0">
              <a:buNone/>
            </a:pPr>
            <a:r>
              <a:rPr lang="en-IN" sz="800" dirty="0" err="1"/>
              <a:t>plt.figure</a:t>
            </a:r>
            <a:r>
              <a:rPr lang="en-IN" sz="800" dirty="0"/>
              <a:t>(</a:t>
            </a:r>
            <a:r>
              <a:rPr lang="en-IN" sz="800" dirty="0" err="1"/>
              <a:t>figsize</a:t>
            </a:r>
            <a:r>
              <a:rPr lang="en-IN" sz="800" dirty="0"/>
              <a:t>=(8,5))</a:t>
            </a:r>
          </a:p>
          <a:p>
            <a:pPr marL="0" indent="0">
              <a:buNone/>
            </a:pPr>
            <a:endParaRPr lang="en-IN" sz="800" dirty="0"/>
          </a:p>
          <a:p>
            <a:pPr marL="0" indent="0">
              <a:buNone/>
            </a:pPr>
            <a:r>
              <a:rPr lang="en-IN" sz="800" dirty="0" err="1"/>
              <a:t>sns.barplot</a:t>
            </a:r>
            <a:r>
              <a:rPr lang="en-IN" sz="800" dirty="0"/>
              <a:t>(</a:t>
            </a:r>
          </a:p>
          <a:p>
            <a:pPr marL="0" indent="0">
              <a:buNone/>
            </a:pPr>
            <a:r>
              <a:rPr lang="en-IN" sz="800" dirty="0"/>
              <a:t>    data=df,</a:t>
            </a:r>
          </a:p>
          <a:p>
            <a:pPr marL="0" indent="0">
              <a:buNone/>
            </a:pPr>
            <a:r>
              <a:rPr lang="en-IN" sz="800" dirty="0"/>
              <a:t>    x="Season",</a:t>
            </a:r>
          </a:p>
          <a:p>
            <a:pPr marL="0" indent="0">
              <a:buNone/>
            </a:pPr>
            <a:r>
              <a:rPr lang="en-IN" sz="800" dirty="0"/>
              <a:t>    y="</a:t>
            </a:r>
            <a:r>
              <a:rPr lang="en-IN" sz="800" dirty="0" err="1"/>
              <a:t>Production_Tonnes</a:t>
            </a:r>
            <a:r>
              <a:rPr lang="en-IN" sz="800" dirty="0"/>
              <a:t>",</a:t>
            </a:r>
          </a:p>
          <a:p>
            <a:pPr marL="0" indent="0">
              <a:buNone/>
            </a:pPr>
            <a:r>
              <a:rPr lang="en-IN" sz="800" dirty="0"/>
              <a:t>    estimator="mean"</a:t>
            </a:r>
          </a:p>
          <a:p>
            <a:pPr marL="0" indent="0">
              <a:buNone/>
            </a:pPr>
            <a:r>
              <a:rPr lang="en-IN" sz="800" dirty="0"/>
              <a:t>)</a:t>
            </a:r>
          </a:p>
          <a:p>
            <a:pPr marL="0" indent="0">
              <a:buNone/>
            </a:pPr>
            <a:endParaRPr lang="en-IN" sz="800" dirty="0"/>
          </a:p>
          <a:p>
            <a:pPr marL="0" indent="0">
              <a:buNone/>
            </a:pPr>
            <a:r>
              <a:rPr lang="en-IN" sz="800" dirty="0" err="1"/>
              <a:t>plt.title</a:t>
            </a:r>
            <a:r>
              <a:rPr lang="en-IN" sz="800" dirty="0"/>
              <a:t>("Average Production by Season")</a:t>
            </a:r>
          </a:p>
          <a:p>
            <a:pPr marL="0" indent="0">
              <a:buNone/>
            </a:pPr>
            <a:r>
              <a:rPr lang="en-IN" sz="800" dirty="0" err="1"/>
              <a:t>plt.xlabel</a:t>
            </a:r>
            <a:r>
              <a:rPr lang="en-IN" sz="800" dirty="0"/>
              <a:t>("Season")</a:t>
            </a:r>
          </a:p>
          <a:p>
            <a:pPr marL="0" indent="0">
              <a:buNone/>
            </a:pPr>
            <a:r>
              <a:rPr lang="en-IN" sz="800" dirty="0" err="1"/>
              <a:t>plt.ylabel</a:t>
            </a:r>
            <a:r>
              <a:rPr lang="en-IN" sz="800" dirty="0"/>
              <a:t>("Average Production (Tonnes)")</a:t>
            </a:r>
          </a:p>
          <a:p>
            <a:pPr marL="0" indent="0">
              <a:buNone/>
            </a:pPr>
            <a:r>
              <a:rPr lang="en-IN" sz="800" dirty="0" err="1"/>
              <a:t>plt.show</a:t>
            </a:r>
            <a:r>
              <a:rPr lang="en-IN" sz="800" dirty="0"/>
              <a:t>()</a:t>
            </a:r>
          </a:p>
        </p:txBody>
      </p:sp>
      <p:pic>
        <p:nvPicPr>
          <p:cNvPr id="5122" name="Picture 2">
            <a:extLst>
              <a:ext uri="{FF2B5EF4-FFF2-40B4-BE49-F238E27FC236}">
                <a16:creationId xmlns:a16="http://schemas.microsoft.com/office/drawing/2014/main" id="{F17ED01B-77BE-4D0E-9BD4-F7150F98A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862" y="4595570"/>
            <a:ext cx="2640430" cy="180256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99975032-4BB9-43D5-B589-2A9115014E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1232" y="4350567"/>
            <a:ext cx="3419024" cy="221787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C084272-C29A-439B-AA12-52B343BD028E}"/>
              </a:ext>
            </a:extLst>
          </p:cNvPr>
          <p:cNvSpPr/>
          <p:nvPr/>
        </p:nvSpPr>
        <p:spPr>
          <a:xfrm>
            <a:off x="3301232" y="1736609"/>
            <a:ext cx="2356618" cy="1692771"/>
          </a:xfrm>
          <a:prstGeom prst="rect">
            <a:avLst/>
          </a:prstGeom>
        </p:spPr>
        <p:txBody>
          <a:bodyPr wrap="square">
            <a:spAutoFit/>
          </a:bodyPr>
          <a:lstStyle/>
          <a:p>
            <a:r>
              <a:rPr lang="en-GB" sz="800" dirty="0" err="1"/>
              <a:t>plt.figure</a:t>
            </a:r>
            <a:r>
              <a:rPr lang="en-GB" sz="800" dirty="0"/>
              <a:t>(</a:t>
            </a:r>
            <a:r>
              <a:rPr lang="en-GB" sz="800" dirty="0" err="1"/>
              <a:t>figsize</a:t>
            </a:r>
            <a:r>
              <a:rPr lang="en-GB" sz="800" dirty="0"/>
              <a:t>=(8,5))</a:t>
            </a:r>
          </a:p>
          <a:p>
            <a:endParaRPr lang="en-GB" sz="800" dirty="0"/>
          </a:p>
          <a:p>
            <a:r>
              <a:rPr lang="en-GB" sz="800" dirty="0" err="1"/>
              <a:t>sns.barplot</a:t>
            </a:r>
            <a:r>
              <a:rPr lang="en-GB" sz="800" dirty="0"/>
              <a:t>(</a:t>
            </a:r>
          </a:p>
          <a:p>
            <a:r>
              <a:rPr lang="en-GB" sz="800" dirty="0"/>
              <a:t>    data=df,</a:t>
            </a:r>
          </a:p>
          <a:p>
            <a:r>
              <a:rPr lang="en-GB" sz="800" dirty="0"/>
              <a:t>    x="Season",</a:t>
            </a:r>
          </a:p>
          <a:p>
            <a:r>
              <a:rPr lang="en-GB" sz="800" dirty="0"/>
              <a:t>    y="</a:t>
            </a:r>
            <a:r>
              <a:rPr lang="en-GB" sz="800" dirty="0" err="1"/>
              <a:t>Revenue_INR</a:t>
            </a:r>
            <a:r>
              <a:rPr lang="en-GB" sz="800" dirty="0"/>
              <a:t>",</a:t>
            </a:r>
          </a:p>
          <a:p>
            <a:r>
              <a:rPr lang="en-GB" sz="800" dirty="0"/>
              <a:t>    estimator="mean"</a:t>
            </a:r>
          </a:p>
          <a:p>
            <a:r>
              <a:rPr lang="en-GB" sz="800" dirty="0"/>
              <a:t>)</a:t>
            </a:r>
          </a:p>
          <a:p>
            <a:endParaRPr lang="en-GB" sz="800" dirty="0"/>
          </a:p>
          <a:p>
            <a:r>
              <a:rPr lang="en-GB" sz="800" dirty="0" err="1"/>
              <a:t>plt.title</a:t>
            </a:r>
            <a:r>
              <a:rPr lang="en-GB" sz="800" dirty="0"/>
              <a:t>("Average Revenue by Season")</a:t>
            </a:r>
          </a:p>
          <a:p>
            <a:r>
              <a:rPr lang="en-GB" sz="800" dirty="0" err="1"/>
              <a:t>plt.xlabel</a:t>
            </a:r>
            <a:r>
              <a:rPr lang="en-GB" sz="800" dirty="0"/>
              <a:t>("Season")</a:t>
            </a:r>
          </a:p>
          <a:p>
            <a:r>
              <a:rPr lang="en-GB" sz="800" dirty="0" err="1"/>
              <a:t>plt.ylabel</a:t>
            </a:r>
            <a:r>
              <a:rPr lang="en-GB" sz="800" dirty="0"/>
              <a:t>("Average Revenue (INR)")</a:t>
            </a:r>
          </a:p>
          <a:p>
            <a:r>
              <a:rPr lang="en-GB" sz="800" dirty="0" err="1"/>
              <a:t>plt.show</a:t>
            </a:r>
            <a:r>
              <a:rPr lang="en-GB" sz="800" dirty="0"/>
              <a:t>()</a:t>
            </a:r>
          </a:p>
        </p:txBody>
      </p:sp>
      <p:pic>
        <p:nvPicPr>
          <p:cNvPr id="5126" name="Picture 6">
            <a:extLst>
              <a:ext uri="{FF2B5EF4-FFF2-40B4-BE49-F238E27FC236}">
                <a16:creationId xmlns:a16="http://schemas.microsoft.com/office/drawing/2014/main" id="{ABB043EC-016F-4845-A01C-D89ACA0C58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1528" y="4451033"/>
            <a:ext cx="3128282" cy="202088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B4ACBFF-D352-44A2-B8BE-05515FB7CA5C}"/>
              </a:ext>
            </a:extLst>
          </p:cNvPr>
          <p:cNvSpPr/>
          <p:nvPr/>
        </p:nvSpPr>
        <p:spPr>
          <a:xfrm>
            <a:off x="7689255" y="1624732"/>
            <a:ext cx="2977924" cy="1692771"/>
          </a:xfrm>
          <a:prstGeom prst="rect">
            <a:avLst/>
          </a:prstGeom>
        </p:spPr>
        <p:txBody>
          <a:bodyPr wrap="square">
            <a:spAutoFit/>
          </a:bodyPr>
          <a:lstStyle/>
          <a:p>
            <a:r>
              <a:rPr lang="en-GB" sz="800" dirty="0" err="1"/>
              <a:t>plt.figure</a:t>
            </a:r>
            <a:r>
              <a:rPr lang="en-GB" sz="800" dirty="0"/>
              <a:t>(</a:t>
            </a:r>
            <a:r>
              <a:rPr lang="en-GB" sz="800" dirty="0" err="1"/>
              <a:t>figsize</a:t>
            </a:r>
            <a:r>
              <a:rPr lang="en-GB" sz="800" dirty="0"/>
              <a:t>=(8,5))</a:t>
            </a:r>
          </a:p>
          <a:p>
            <a:endParaRPr lang="en-GB" sz="800" dirty="0"/>
          </a:p>
          <a:p>
            <a:r>
              <a:rPr lang="en-GB" sz="800" dirty="0" err="1"/>
              <a:t>sns.barplot</a:t>
            </a:r>
            <a:r>
              <a:rPr lang="en-GB" sz="800" dirty="0"/>
              <a:t>(</a:t>
            </a:r>
          </a:p>
          <a:p>
            <a:r>
              <a:rPr lang="en-GB" sz="800" dirty="0"/>
              <a:t>    data=df,</a:t>
            </a:r>
          </a:p>
          <a:p>
            <a:r>
              <a:rPr lang="en-GB" sz="800" dirty="0"/>
              <a:t>    x="Season",</a:t>
            </a:r>
          </a:p>
          <a:p>
            <a:r>
              <a:rPr lang="en-GB" sz="800" dirty="0"/>
              <a:t>    y="</a:t>
            </a:r>
            <a:r>
              <a:rPr lang="en-GB" sz="800" dirty="0" err="1"/>
              <a:t>Profit_INR</a:t>
            </a:r>
            <a:r>
              <a:rPr lang="en-GB" sz="800" dirty="0"/>
              <a:t>",</a:t>
            </a:r>
          </a:p>
          <a:p>
            <a:r>
              <a:rPr lang="en-GB" sz="800" dirty="0"/>
              <a:t>    estimator="mean"</a:t>
            </a:r>
          </a:p>
          <a:p>
            <a:r>
              <a:rPr lang="en-GB" sz="800" dirty="0"/>
              <a:t>)</a:t>
            </a:r>
          </a:p>
          <a:p>
            <a:endParaRPr lang="en-GB" sz="800" dirty="0"/>
          </a:p>
          <a:p>
            <a:r>
              <a:rPr lang="en-GB" sz="800" dirty="0" err="1"/>
              <a:t>plt.title</a:t>
            </a:r>
            <a:r>
              <a:rPr lang="en-GB" sz="800" dirty="0"/>
              <a:t>("Average Profit by Season")</a:t>
            </a:r>
          </a:p>
          <a:p>
            <a:r>
              <a:rPr lang="en-GB" sz="800" dirty="0" err="1"/>
              <a:t>plt.xlabel</a:t>
            </a:r>
            <a:r>
              <a:rPr lang="en-GB" sz="800" dirty="0"/>
              <a:t>("Season")</a:t>
            </a:r>
          </a:p>
          <a:p>
            <a:r>
              <a:rPr lang="en-GB" sz="800" dirty="0" err="1"/>
              <a:t>plt.ylabel</a:t>
            </a:r>
            <a:r>
              <a:rPr lang="en-GB" sz="800" dirty="0"/>
              <a:t>("Average Profit (INR)")</a:t>
            </a:r>
          </a:p>
          <a:p>
            <a:r>
              <a:rPr lang="en-GB" sz="800" dirty="0" err="1"/>
              <a:t>plt.show</a:t>
            </a:r>
            <a:r>
              <a:rPr lang="en-GB" sz="800" dirty="0"/>
              <a: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5" end="5"/>
                                            </p:txEl>
                                          </p:spTgt>
                                        </p:tgtEl>
                                        <p:attrNameLst>
                                          <p:attrName>style.visibility</p:attrName>
                                        </p:attrNameLst>
                                      </p:cBhvr>
                                      <p:to>
                                        <p:strVal val="visible"/>
                                      </p:to>
                                    </p:set>
                                    <p:animEffect transition="in" filter="fade">
                                      <p:cBhvr>
                                        <p:cTn id="56" dur="1000"/>
                                        <p:tgtEl>
                                          <p:spTgt spid="10">
                                            <p:txEl>
                                              <p:pRg st="5" end="5"/>
                                            </p:txEl>
                                          </p:spTgt>
                                        </p:tgtEl>
                                      </p:cBhvr>
                                    </p:animEffect>
                                    <p:anim calcmode="lin" valueType="num">
                                      <p:cBhvr>
                                        <p:cTn id="5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6" end="6"/>
                                            </p:txEl>
                                          </p:spTgt>
                                        </p:tgtEl>
                                        <p:attrNameLst>
                                          <p:attrName>style.visibility</p:attrName>
                                        </p:attrNameLst>
                                      </p:cBhvr>
                                      <p:to>
                                        <p:strVal val="visible"/>
                                      </p:to>
                                    </p:set>
                                    <p:animEffect transition="in" filter="fade">
                                      <p:cBhvr>
                                        <p:cTn id="63" dur="1000"/>
                                        <p:tgtEl>
                                          <p:spTgt spid="10">
                                            <p:txEl>
                                              <p:pRg st="6" end="6"/>
                                            </p:txEl>
                                          </p:spTgt>
                                        </p:tgtEl>
                                      </p:cBhvr>
                                    </p:animEffect>
                                    <p:anim calcmode="lin" valueType="num">
                                      <p:cBhvr>
                                        <p:cTn id="64"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7" end="7"/>
                                            </p:txEl>
                                          </p:spTgt>
                                        </p:tgtEl>
                                        <p:attrNameLst>
                                          <p:attrName>style.visibility</p:attrName>
                                        </p:attrNameLst>
                                      </p:cBhvr>
                                      <p:to>
                                        <p:strVal val="visible"/>
                                      </p:to>
                                    </p:set>
                                    <p:animEffect transition="in" filter="fade">
                                      <p:cBhvr>
                                        <p:cTn id="70" dur="1000"/>
                                        <p:tgtEl>
                                          <p:spTgt spid="10">
                                            <p:txEl>
                                              <p:pRg st="7" end="7"/>
                                            </p:txEl>
                                          </p:spTgt>
                                        </p:tgtEl>
                                      </p:cBhvr>
                                    </p:animEffect>
                                    <p:anim calcmode="lin" valueType="num">
                                      <p:cBhvr>
                                        <p:cTn id="71"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9" end="9"/>
                                            </p:txEl>
                                          </p:spTgt>
                                        </p:tgtEl>
                                        <p:attrNameLst>
                                          <p:attrName>style.visibility</p:attrName>
                                        </p:attrNameLst>
                                      </p:cBhvr>
                                      <p:to>
                                        <p:strVal val="visible"/>
                                      </p:to>
                                    </p:set>
                                    <p:animEffect transition="in" filter="fade">
                                      <p:cBhvr>
                                        <p:cTn id="77" dur="1000"/>
                                        <p:tgtEl>
                                          <p:spTgt spid="10">
                                            <p:txEl>
                                              <p:pRg st="9" end="9"/>
                                            </p:txEl>
                                          </p:spTgt>
                                        </p:tgtEl>
                                      </p:cBhvr>
                                    </p:animEffect>
                                    <p:anim calcmode="lin" valueType="num">
                                      <p:cBhvr>
                                        <p:cTn id="78"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10" end="10"/>
                                            </p:txEl>
                                          </p:spTgt>
                                        </p:tgtEl>
                                        <p:attrNameLst>
                                          <p:attrName>style.visibility</p:attrName>
                                        </p:attrNameLst>
                                      </p:cBhvr>
                                      <p:to>
                                        <p:strVal val="visible"/>
                                      </p:to>
                                    </p:set>
                                    <p:animEffect transition="in" filter="fade">
                                      <p:cBhvr>
                                        <p:cTn id="84" dur="1000"/>
                                        <p:tgtEl>
                                          <p:spTgt spid="10">
                                            <p:txEl>
                                              <p:pRg st="10" end="10"/>
                                            </p:txEl>
                                          </p:spTgt>
                                        </p:tgtEl>
                                      </p:cBhvr>
                                    </p:animEffect>
                                    <p:anim calcmode="lin" valueType="num">
                                      <p:cBhvr>
                                        <p:cTn id="85"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11" end="11"/>
                                            </p:txEl>
                                          </p:spTgt>
                                        </p:tgtEl>
                                        <p:attrNameLst>
                                          <p:attrName>style.visibility</p:attrName>
                                        </p:attrNameLst>
                                      </p:cBhvr>
                                      <p:to>
                                        <p:strVal val="visible"/>
                                      </p:to>
                                    </p:set>
                                    <p:animEffect transition="in" filter="fade">
                                      <p:cBhvr>
                                        <p:cTn id="91" dur="1000"/>
                                        <p:tgtEl>
                                          <p:spTgt spid="10">
                                            <p:txEl>
                                              <p:pRg st="11" end="11"/>
                                            </p:txEl>
                                          </p:spTgt>
                                        </p:tgtEl>
                                      </p:cBhvr>
                                    </p:animEffect>
                                    <p:anim calcmode="lin" valueType="num">
                                      <p:cBhvr>
                                        <p:cTn id="92" dur="1000" fill="hold"/>
                                        <p:tgtEl>
                                          <p:spTgt spid="10">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
                                            <p:txEl>
                                              <p:pRg st="12" end="12"/>
                                            </p:txEl>
                                          </p:spTgt>
                                        </p:tgtEl>
                                        <p:attrNameLst>
                                          <p:attrName>style.visibility</p:attrName>
                                        </p:attrNameLst>
                                      </p:cBhvr>
                                      <p:to>
                                        <p:strVal val="visible"/>
                                      </p:to>
                                    </p:set>
                                    <p:animEffect transition="in" filter="fade">
                                      <p:cBhvr>
                                        <p:cTn id="98" dur="1000"/>
                                        <p:tgtEl>
                                          <p:spTgt spid="10">
                                            <p:txEl>
                                              <p:pRg st="12" end="12"/>
                                            </p:txEl>
                                          </p:spTgt>
                                        </p:tgtEl>
                                      </p:cBhvr>
                                    </p:animEffect>
                                    <p:anim calcmode="lin" valueType="num">
                                      <p:cBhvr>
                                        <p:cTn id="99" dur="1000" fill="hold"/>
                                        <p:tgtEl>
                                          <p:spTgt spid="10">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10">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737580" y="1855035"/>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47665" y="4033062"/>
            <a:ext cx="2638225" cy="2705683"/>
          </a:xfrm>
        </p:spPr>
        <p:txBody>
          <a:bodyPr>
            <a:noAutofit/>
          </a:bodyPr>
          <a:lstStyle/>
          <a:p>
            <a:pPr marL="0" indent="0">
              <a:buNone/>
            </a:pPr>
            <a:r>
              <a:rPr lang="en-IN" sz="800" dirty="0" err="1"/>
              <a:t>plt.figure</a:t>
            </a:r>
            <a:r>
              <a:rPr lang="en-IN" sz="800" dirty="0"/>
              <a:t>(</a:t>
            </a:r>
            <a:r>
              <a:rPr lang="en-IN" sz="800" dirty="0" err="1"/>
              <a:t>figsize</a:t>
            </a:r>
            <a:r>
              <a:rPr lang="en-IN" sz="800" dirty="0"/>
              <a:t>=(10,6))</a:t>
            </a:r>
          </a:p>
          <a:p>
            <a:pPr marL="0" indent="0">
              <a:buNone/>
            </a:pPr>
            <a:endParaRPr lang="en-IN" sz="800" dirty="0"/>
          </a:p>
          <a:p>
            <a:pPr marL="0" indent="0">
              <a:buNone/>
            </a:pPr>
            <a:r>
              <a:rPr lang="en-IN" sz="800" dirty="0" err="1"/>
              <a:t>crop_yield.plot</a:t>
            </a:r>
            <a:r>
              <a:rPr lang="en-IN" sz="800" dirty="0"/>
              <a:t>(kind="bar")</a:t>
            </a:r>
          </a:p>
          <a:p>
            <a:pPr marL="0" indent="0">
              <a:buNone/>
            </a:pPr>
            <a:endParaRPr lang="en-IN" sz="800" dirty="0"/>
          </a:p>
          <a:p>
            <a:pPr marL="0" indent="0">
              <a:buNone/>
            </a:pPr>
            <a:r>
              <a:rPr lang="en-IN" sz="800" dirty="0" err="1"/>
              <a:t>plt.title</a:t>
            </a:r>
            <a:r>
              <a:rPr lang="en-IN" sz="800" dirty="0"/>
              <a:t>("Average Yield by Crop")</a:t>
            </a:r>
          </a:p>
          <a:p>
            <a:pPr marL="0" indent="0">
              <a:buNone/>
            </a:pPr>
            <a:r>
              <a:rPr lang="en-IN" sz="800" dirty="0" err="1"/>
              <a:t>plt.xlabel</a:t>
            </a:r>
            <a:r>
              <a:rPr lang="en-IN" sz="800" dirty="0"/>
              <a:t>("Crop")</a:t>
            </a:r>
          </a:p>
          <a:p>
            <a:pPr marL="0" indent="0">
              <a:buNone/>
            </a:pPr>
            <a:r>
              <a:rPr lang="en-IN" sz="800" dirty="0" err="1"/>
              <a:t>plt.ylabel</a:t>
            </a:r>
            <a:r>
              <a:rPr lang="en-IN" sz="800" dirty="0"/>
              <a:t>("Average Yield (Tonnes/Ha)")</a:t>
            </a:r>
          </a:p>
          <a:p>
            <a:pPr marL="0" indent="0">
              <a:buNone/>
            </a:pPr>
            <a:r>
              <a:rPr lang="en-IN" sz="800" dirty="0" err="1"/>
              <a:t>plt.xticks</a:t>
            </a:r>
            <a:r>
              <a:rPr lang="en-IN" sz="800" dirty="0"/>
              <a:t>(rotation=45)</a:t>
            </a:r>
          </a:p>
          <a:p>
            <a:pPr marL="0" indent="0">
              <a:buNone/>
            </a:pPr>
            <a:r>
              <a:rPr lang="en-IN" sz="800" dirty="0" err="1"/>
              <a:t>plt.show</a:t>
            </a:r>
            <a:r>
              <a:rPr lang="en-IN" sz="800" dirty="0"/>
              <a:t>()</a:t>
            </a:r>
          </a:p>
        </p:txBody>
      </p:sp>
      <p:pic>
        <p:nvPicPr>
          <p:cNvPr id="6146" name="Picture 2">
            <a:extLst>
              <a:ext uri="{FF2B5EF4-FFF2-40B4-BE49-F238E27FC236}">
                <a16:creationId xmlns:a16="http://schemas.microsoft.com/office/drawing/2014/main" id="{8764BC1D-84D8-4454-9987-6ADF02509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188" y="1047348"/>
            <a:ext cx="4113833" cy="291192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C646208C-E167-40A5-B6CE-E965BAF82C71}"/>
              </a:ext>
            </a:extLst>
          </p:cNvPr>
          <p:cNvGraphicFramePr>
            <a:graphicFrameLocks noGrp="1"/>
          </p:cNvGraphicFramePr>
          <p:nvPr>
            <p:extLst>
              <p:ext uri="{D42A27DB-BD31-4B8C-83A1-F6EECF244321}">
                <p14:modId xmlns:p14="http://schemas.microsoft.com/office/powerpoint/2010/main" val="483017844"/>
              </p:ext>
            </p:extLst>
          </p:nvPr>
        </p:nvGraphicFramePr>
        <p:xfrm>
          <a:off x="4976565" y="563991"/>
          <a:ext cx="5706832" cy="3657600"/>
        </p:xfrm>
        <a:graphic>
          <a:graphicData uri="http://schemas.openxmlformats.org/drawingml/2006/table">
            <a:tbl>
              <a:tblPr/>
              <a:tblGrid>
                <a:gridCol w="1426708">
                  <a:extLst>
                    <a:ext uri="{9D8B030D-6E8A-4147-A177-3AD203B41FA5}">
                      <a16:colId xmlns:a16="http://schemas.microsoft.com/office/drawing/2014/main" val="2953346777"/>
                    </a:ext>
                  </a:extLst>
                </a:gridCol>
                <a:gridCol w="1426708">
                  <a:extLst>
                    <a:ext uri="{9D8B030D-6E8A-4147-A177-3AD203B41FA5}">
                      <a16:colId xmlns:a16="http://schemas.microsoft.com/office/drawing/2014/main" val="1968704906"/>
                    </a:ext>
                  </a:extLst>
                </a:gridCol>
                <a:gridCol w="1426708">
                  <a:extLst>
                    <a:ext uri="{9D8B030D-6E8A-4147-A177-3AD203B41FA5}">
                      <a16:colId xmlns:a16="http://schemas.microsoft.com/office/drawing/2014/main" val="1884316691"/>
                    </a:ext>
                  </a:extLst>
                </a:gridCol>
                <a:gridCol w="1426708">
                  <a:extLst>
                    <a:ext uri="{9D8B030D-6E8A-4147-A177-3AD203B41FA5}">
                      <a16:colId xmlns:a16="http://schemas.microsoft.com/office/drawing/2014/main" val="466025488"/>
                    </a:ext>
                  </a:extLst>
                </a:gridCol>
              </a:tblGrid>
              <a:tr h="342355">
                <a:tc>
                  <a:txBody>
                    <a:bodyPr/>
                    <a:lstStyle/>
                    <a:p>
                      <a:pPr algn="r" fontAlgn="ctr"/>
                      <a:r>
                        <a:rPr lang="en-GB" b="1">
                          <a:effectLst/>
                        </a:rPr>
                        <a:t>Season</a:t>
                      </a:r>
                    </a:p>
                  </a:txBody>
                  <a:tcPr anchor="ctr">
                    <a:lnL>
                      <a:noFill/>
                    </a:lnL>
                    <a:lnR>
                      <a:noFill/>
                    </a:lnR>
                    <a:lnT>
                      <a:noFill/>
                    </a:lnT>
                    <a:lnB>
                      <a:noFill/>
                    </a:lnB>
                    <a:solidFill>
                      <a:srgbClr val="FFFFFF"/>
                    </a:solidFill>
                  </a:tcPr>
                </a:tc>
                <a:tc>
                  <a:txBody>
                    <a:bodyPr/>
                    <a:lstStyle/>
                    <a:p>
                      <a:pPr algn="r" fontAlgn="ctr"/>
                      <a:r>
                        <a:rPr lang="en-GB" b="1" dirty="0">
                          <a:effectLst/>
                        </a:rPr>
                        <a:t>Kharif</a:t>
                      </a:r>
                    </a:p>
                  </a:txBody>
                  <a:tcPr anchor="ctr">
                    <a:lnL>
                      <a:noFill/>
                    </a:lnL>
                    <a:lnR>
                      <a:noFill/>
                    </a:lnR>
                    <a:lnT>
                      <a:noFill/>
                    </a:lnT>
                    <a:lnB>
                      <a:noFill/>
                    </a:lnB>
                    <a:solidFill>
                      <a:srgbClr val="FFFFFF"/>
                    </a:solidFill>
                  </a:tcPr>
                </a:tc>
                <a:tc>
                  <a:txBody>
                    <a:bodyPr/>
                    <a:lstStyle/>
                    <a:p>
                      <a:pPr algn="r" fontAlgn="ctr"/>
                      <a:r>
                        <a:rPr lang="en-GB" b="1">
                          <a:effectLst/>
                        </a:rPr>
                        <a:t>Rabi</a:t>
                      </a:r>
                    </a:p>
                  </a:txBody>
                  <a:tcPr anchor="ctr">
                    <a:lnL>
                      <a:noFill/>
                    </a:lnL>
                    <a:lnR>
                      <a:noFill/>
                    </a:lnR>
                    <a:lnT>
                      <a:noFill/>
                    </a:lnT>
                    <a:lnB>
                      <a:noFill/>
                    </a:lnB>
                    <a:solidFill>
                      <a:srgbClr val="FFFFFF"/>
                    </a:solidFill>
                  </a:tcPr>
                </a:tc>
                <a:tc>
                  <a:txBody>
                    <a:bodyPr/>
                    <a:lstStyle/>
                    <a:p>
                      <a:pPr algn="r" fontAlgn="ctr"/>
                      <a:r>
                        <a:rPr lang="en-GB" b="1">
                          <a:effectLst/>
                        </a:rPr>
                        <a:t>Zaid</a:t>
                      </a:r>
                    </a:p>
                  </a:txBody>
                  <a:tcPr anchor="ctr">
                    <a:lnL>
                      <a:noFill/>
                    </a:lnL>
                    <a:lnR>
                      <a:noFill/>
                    </a:lnR>
                    <a:lnT>
                      <a:noFill/>
                    </a:lnT>
                    <a:lnB>
                      <a:noFill/>
                    </a:lnB>
                    <a:solidFill>
                      <a:srgbClr val="FFFFFF"/>
                    </a:solidFill>
                  </a:tcPr>
                </a:tc>
                <a:extLst>
                  <a:ext uri="{0D108BD9-81ED-4DB2-BD59-A6C34878D82A}">
                    <a16:rowId xmlns:a16="http://schemas.microsoft.com/office/drawing/2014/main" val="2098978485"/>
                  </a:ext>
                </a:extLst>
              </a:tr>
              <a:tr h="307955">
                <a:tc>
                  <a:txBody>
                    <a:bodyPr/>
                    <a:lstStyle/>
                    <a:p>
                      <a:pPr algn="r" fontAlgn="ctr"/>
                      <a:r>
                        <a:rPr lang="en-GB" b="1">
                          <a:effectLst/>
                        </a:rPr>
                        <a:t>Crop</a:t>
                      </a:r>
                    </a:p>
                  </a:txBody>
                  <a:tcPr anchor="ctr">
                    <a:lnL>
                      <a:noFill/>
                    </a:lnL>
                    <a:lnR>
                      <a:noFill/>
                    </a:lnR>
                    <a:lnT>
                      <a:noFill/>
                    </a:lnT>
                    <a:lnB>
                      <a:noFill/>
                    </a:lnB>
                    <a:solidFill>
                      <a:srgbClr val="FFFFFF"/>
                    </a:solidFill>
                  </a:tcPr>
                </a:tc>
                <a:tc>
                  <a:txBody>
                    <a:bodyPr/>
                    <a:lstStyle/>
                    <a:p>
                      <a:pPr algn="r" fontAlgn="ctr"/>
                      <a:endParaRPr lang="en-GB" b="1">
                        <a:effectLst/>
                      </a:endParaRPr>
                    </a:p>
                  </a:txBody>
                  <a:tcPr anchor="ctr">
                    <a:lnL>
                      <a:noFill/>
                    </a:lnL>
                    <a:lnR>
                      <a:noFill/>
                    </a:lnR>
                    <a:lnT>
                      <a:noFill/>
                    </a:lnT>
                    <a:lnB>
                      <a:noFill/>
                    </a:lnB>
                    <a:solidFill>
                      <a:srgbClr val="FFFFFF"/>
                    </a:solidFill>
                  </a:tcPr>
                </a:tc>
                <a:tc>
                  <a:txBody>
                    <a:bodyPr/>
                    <a:lstStyle/>
                    <a:p>
                      <a:pPr algn="r" fontAlgn="ctr"/>
                      <a:endParaRPr lang="en-GB" b="1">
                        <a:effectLst/>
                      </a:endParaRPr>
                    </a:p>
                  </a:txBody>
                  <a:tcPr anchor="ctr">
                    <a:lnL>
                      <a:noFill/>
                    </a:lnL>
                    <a:lnR>
                      <a:noFill/>
                    </a:lnR>
                    <a:lnT>
                      <a:noFill/>
                    </a:lnT>
                    <a:lnB>
                      <a:noFill/>
                    </a:lnB>
                    <a:solidFill>
                      <a:srgbClr val="FFFFFF"/>
                    </a:solidFill>
                  </a:tcPr>
                </a:tc>
                <a:tc>
                  <a:txBody>
                    <a:bodyPr/>
                    <a:lstStyle/>
                    <a:p>
                      <a:pPr algn="r" fontAlgn="ctr"/>
                      <a:endParaRPr lang="en-GB" b="1">
                        <a:effectLst/>
                      </a:endParaRPr>
                    </a:p>
                  </a:txBody>
                  <a:tcPr anchor="ctr">
                    <a:lnL>
                      <a:noFill/>
                    </a:lnL>
                    <a:lnR>
                      <a:noFill/>
                    </a:lnR>
                    <a:lnT>
                      <a:noFill/>
                    </a:lnT>
                    <a:lnB>
                      <a:noFill/>
                    </a:lnB>
                    <a:solidFill>
                      <a:srgbClr val="FFFFFF"/>
                    </a:solidFill>
                  </a:tcPr>
                </a:tc>
                <a:extLst>
                  <a:ext uri="{0D108BD9-81ED-4DB2-BD59-A6C34878D82A}">
                    <a16:rowId xmlns:a16="http://schemas.microsoft.com/office/drawing/2014/main" val="1460540091"/>
                  </a:ext>
                </a:extLst>
              </a:tr>
              <a:tr h="307955">
                <a:tc>
                  <a:txBody>
                    <a:bodyPr/>
                    <a:lstStyle/>
                    <a:p>
                      <a:pPr algn="r" fontAlgn="ctr"/>
                      <a:r>
                        <a:rPr lang="en-GB" b="1">
                          <a:effectLst/>
                        </a:rPr>
                        <a:t>Chilli</a:t>
                      </a:r>
                    </a:p>
                  </a:txBody>
                  <a:tcPr anchor="ctr">
                    <a:lnL>
                      <a:noFill/>
                    </a:lnL>
                    <a:lnR>
                      <a:noFill/>
                    </a:lnR>
                    <a:lnT>
                      <a:noFill/>
                    </a:lnT>
                    <a:lnB>
                      <a:noFill/>
                    </a:lnB>
                    <a:solidFill>
                      <a:srgbClr val="FFFFFF"/>
                    </a:solidFill>
                  </a:tcPr>
                </a:tc>
                <a:tc>
                  <a:txBody>
                    <a:bodyPr/>
                    <a:lstStyle/>
                    <a:p>
                      <a:pPr algn="r" fontAlgn="ctr"/>
                      <a:r>
                        <a:rPr lang="en-GB">
                          <a:effectLst/>
                        </a:rPr>
                        <a:t>1.731413</a:t>
                      </a:r>
                    </a:p>
                  </a:txBody>
                  <a:tcPr anchor="ctr">
                    <a:lnL>
                      <a:noFill/>
                    </a:lnL>
                    <a:lnR>
                      <a:noFill/>
                    </a:lnR>
                    <a:lnT>
                      <a:noFill/>
                    </a:lnT>
                    <a:lnB>
                      <a:noFill/>
                    </a:lnB>
                    <a:solidFill>
                      <a:srgbClr val="FFFFFF"/>
                    </a:solidFill>
                  </a:tcPr>
                </a:tc>
                <a:tc>
                  <a:txBody>
                    <a:bodyPr/>
                    <a:lstStyle/>
                    <a:p>
                      <a:pPr algn="r" fontAlgn="ctr"/>
                      <a:r>
                        <a:rPr lang="en-GB">
                          <a:effectLst/>
                        </a:rPr>
                        <a:t>1.461615</a:t>
                      </a:r>
                    </a:p>
                  </a:txBody>
                  <a:tcPr anchor="ctr">
                    <a:lnL>
                      <a:noFill/>
                    </a:lnL>
                    <a:lnR>
                      <a:noFill/>
                    </a:lnR>
                    <a:lnT>
                      <a:noFill/>
                    </a:lnT>
                    <a:lnB>
                      <a:noFill/>
                    </a:lnB>
                    <a:solidFill>
                      <a:srgbClr val="FFFFFF"/>
                    </a:solidFill>
                  </a:tcPr>
                </a:tc>
                <a:tc>
                  <a:txBody>
                    <a:bodyPr/>
                    <a:lstStyle/>
                    <a:p>
                      <a:pPr algn="r" fontAlgn="ctr"/>
                      <a:r>
                        <a:rPr lang="en-GB">
                          <a:effectLst/>
                        </a:rPr>
                        <a:t>1.177742</a:t>
                      </a:r>
                    </a:p>
                  </a:txBody>
                  <a:tcPr anchor="ctr">
                    <a:lnL>
                      <a:noFill/>
                    </a:lnL>
                    <a:lnR>
                      <a:noFill/>
                    </a:lnR>
                    <a:lnT>
                      <a:noFill/>
                    </a:lnT>
                    <a:lnB>
                      <a:noFill/>
                    </a:lnB>
                    <a:solidFill>
                      <a:srgbClr val="FFFFFF"/>
                    </a:solidFill>
                  </a:tcPr>
                </a:tc>
                <a:extLst>
                  <a:ext uri="{0D108BD9-81ED-4DB2-BD59-A6C34878D82A}">
                    <a16:rowId xmlns:a16="http://schemas.microsoft.com/office/drawing/2014/main" val="2857362480"/>
                  </a:ext>
                </a:extLst>
              </a:tr>
              <a:tr h="307955">
                <a:tc>
                  <a:txBody>
                    <a:bodyPr/>
                    <a:lstStyle/>
                    <a:p>
                      <a:pPr algn="r" fontAlgn="ctr"/>
                      <a:r>
                        <a:rPr lang="en-GB" b="1">
                          <a:effectLst/>
                        </a:rPr>
                        <a:t>Cotton</a:t>
                      </a:r>
                    </a:p>
                  </a:txBody>
                  <a:tcPr anchor="ctr">
                    <a:lnL>
                      <a:noFill/>
                    </a:lnL>
                    <a:lnR>
                      <a:noFill/>
                    </a:lnR>
                    <a:lnT>
                      <a:noFill/>
                    </a:lnT>
                    <a:lnB>
                      <a:noFill/>
                    </a:lnB>
                    <a:solidFill>
                      <a:srgbClr val="FFFFFF"/>
                    </a:solidFill>
                  </a:tcPr>
                </a:tc>
                <a:tc>
                  <a:txBody>
                    <a:bodyPr/>
                    <a:lstStyle/>
                    <a:p>
                      <a:pPr algn="r" fontAlgn="ctr"/>
                      <a:r>
                        <a:rPr lang="en-GB">
                          <a:effectLst/>
                        </a:rPr>
                        <a:t>1.372804</a:t>
                      </a:r>
                    </a:p>
                  </a:txBody>
                  <a:tcPr anchor="ctr">
                    <a:lnL>
                      <a:noFill/>
                    </a:lnL>
                    <a:lnR>
                      <a:noFill/>
                    </a:lnR>
                    <a:lnT>
                      <a:noFill/>
                    </a:lnT>
                    <a:lnB>
                      <a:noFill/>
                    </a:lnB>
                    <a:solidFill>
                      <a:srgbClr val="FFFFFF"/>
                    </a:solidFill>
                  </a:tcPr>
                </a:tc>
                <a:tc>
                  <a:txBody>
                    <a:bodyPr/>
                    <a:lstStyle/>
                    <a:p>
                      <a:pPr algn="r" fontAlgn="ctr"/>
                      <a:r>
                        <a:rPr lang="en-GB">
                          <a:effectLst/>
                        </a:rPr>
                        <a:t>1.192915</a:t>
                      </a:r>
                    </a:p>
                  </a:txBody>
                  <a:tcPr anchor="ctr">
                    <a:lnL>
                      <a:noFill/>
                    </a:lnL>
                    <a:lnR>
                      <a:noFill/>
                    </a:lnR>
                    <a:lnT>
                      <a:noFill/>
                    </a:lnT>
                    <a:lnB>
                      <a:noFill/>
                    </a:lnB>
                    <a:solidFill>
                      <a:srgbClr val="FFFFFF"/>
                    </a:solidFill>
                  </a:tcPr>
                </a:tc>
                <a:tc>
                  <a:txBody>
                    <a:bodyPr/>
                    <a:lstStyle/>
                    <a:p>
                      <a:pPr algn="r" fontAlgn="ctr"/>
                      <a:r>
                        <a:rPr lang="en-GB">
                          <a:effectLst/>
                        </a:rPr>
                        <a:t>0.951648</a:t>
                      </a:r>
                    </a:p>
                  </a:txBody>
                  <a:tcPr anchor="ctr">
                    <a:lnL>
                      <a:noFill/>
                    </a:lnL>
                    <a:lnR>
                      <a:noFill/>
                    </a:lnR>
                    <a:lnT>
                      <a:noFill/>
                    </a:lnT>
                    <a:lnB>
                      <a:noFill/>
                    </a:lnB>
                    <a:solidFill>
                      <a:srgbClr val="FFFFFF"/>
                    </a:solidFill>
                  </a:tcPr>
                </a:tc>
                <a:extLst>
                  <a:ext uri="{0D108BD9-81ED-4DB2-BD59-A6C34878D82A}">
                    <a16:rowId xmlns:a16="http://schemas.microsoft.com/office/drawing/2014/main" val="2511379500"/>
                  </a:ext>
                </a:extLst>
              </a:tr>
              <a:tr h="307955">
                <a:tc>
                  <a:txBody>
                    <a:bodyPr/>
                    <a:lstStyle/>
                    <a:p>
                      <a:pPr algn="r" fontAlgn="ctr"/>
                      <a:r>
                        <a:rPr lang="en-GB" b="1">
                          <a:effectLst/>
                        </a:rPr>
                        <a:t>Groundnut</a:t>
                      </a:r>
                    </a:p>
                  </a:txBody>
                  <a:tcPr anchor="ctr">
                    <a:lnL>
                      <a:noFill/>
                    </a:lnL>
                    <a:lnR>
                      <a:noFill/>
                    </a:lnR>
                    <a:lnT>
                      <a:noFill/>
                    </a:lnT>
                    <a:lnB>
                      <a:noFill/>
                    </a:lnB>
                    <a:solidFill>
                      <a:srgbClr val="FFFFFF"/>
                    </a:solidFill>
                  </a:tcPr>
                </a:tc>
                <a:tc>
                  <a:txBody>
                    <a:bodyPr/>
                    <a:lstStyle/>
                    <a:p>
                      <a:pPr algn="r" fontAlgn="ctr"/>
                      <a:r>
                        <a:rPr lang="en-GB">
                          <a:effectLst/>
                        </a:rPr>
                        <a:t>1.483646</a:t>
                      </a:r>
                    </a:p>
                  </a:txBody>
                  <a:tcPr anchor="ctr">
                    <a:lnL>
                      <a:noFill/>
                    </a:lnL>
                    <a:lnR>
                      <a:noFill/>
                    </a:lnR>
                    <a:lnT>
                      <a:noFill/>
                    </a:lnT>
                    <a:lnB>
                      <a:noFill/>
                    </a:lnB>
                    <a:solidFill>
                      <a:srgbClr val="FFFFFF"/>
                    </a:solidFill>
                  </a:tcPr>
                </a:tc>
                <a:tc>
                  <a:txBody>
                    <a:bodyPr/>
                    <a:lstStyle/>
                    <a:p>
                      <a:pPr algn="r" fontAlgn="ctr"/>
                      <a:r>
                        <a:rPr lang="en-GB">
                          <a:effectLst/>
                        </a:rPr>
                        <a:t>1.221445</a:t>
                      </a:r>
                    </a:p>
                  </a:txBody>
                  <a:tcPr anchor="ctr">
                    <a:lnL>
                      <a:noFill/>
                    </a:lnL>
                    <a:lnR>
                      <a:noFill/>
                    </a:lnR>
                    <a:lnT>
                      <a:noFill/>
                    </a:lnT>
                    <a:lnB>
                      <a:noFill/>
                    </a:lnB>
                    <a:solidFill>
                      <a:srgbClr val="FFFFFF"/>
                    </a:solidFill>
                  </a:tcPr>
                </a:tc>
                <a:tc>
                  <a:txBody>
                    <a:bodyPr/>
                    <a:lstStyle/>
                    <a:p>
                      <a:pPr algn="r" fontAlgn="ctr"/>
                      <a:r>
                        <a:rPr lang="en-GB">
                          <a:effectLst/>
                        </a:rPr>
                        <a:t>1.037778</a:t>
                      </a:r>
                    </a:p>
                  </a:txBody>
                  <a:tcPr anchor="ctr">
                    <a:lnL>
                      <a:noFill/>
                    </a:lnL>
                    <a:lnR>
                      <a:noFill/>
                    </a:lnR>
                    <a:lnT>
                      <a:noFill/>
                    </a:lnT>
                    <a:lnB>
                      <a:noFill/>
                    </a:lnB>
                    <a:solidFill>
                      <a:srgbClr val="FFFFFF"/>
                    </a:solidFill>
                  </a:tcPr>
                </a:tc>
                <a:extLst>
                  <a:ext uri="{0D108BD9-81ED-4DB2-BD59-A6C34878D82A}">
                    <a16:rowId xmlns:a16="http://schemas.microsoft.com/office/drawing/2014/main" val="2638527548"/>
                  </a:ext>
                </a:extLst>
              </a:tr>
              <a:tr h="307955">
                <a:tc>
                  <a:txBody>
                    <a:bodyPr/>
                    <a:lstStyle/>
                    <a:p>
                      <a:pPr algn="r" fontAlgn="ctr"/>
                      <a:r>
                        <a:rPr lang="en-GB" b="1">
                          <a:effectLst/>
                        </a:rPr>
                        <a:t>Maize</a:t>
                      </a:r>
                    </a:p>
                  </a:txBody>
                  <a:tcPr anchor="ctr">
                    <a:lnL>
                      <a:noFill/>
                    </a:lnL>
                    <a:lnR>
                      <a:noFill/>
                    </a:lnR>
                    <a:lnT>
                      <a:noFill/>
                    </a:lnT>
                    <a:lnB>
                      <a:noFill/>
                    </a:lnB>
                    <a:solidFill>
                      <a:srgbClr val="FFFFFF"/>
                    </a:solidFill>
                  </a:tcPr>
                </a:tc>
                <a:tc>
                  <a:txBody>
                    <a:bodyPr/>
                    <a:lstStyle/>
                    <a:p>
                      <a:pPr algn="r" fontAlgn="ctr"/>
                      <a:r>
                        <a:rPr lang="en-GB">
                          <a:effectLst/>
                        </a:rPr>
                        <a:t>2.966410</a:t>
                      </a:r>
                    </a:p>
                  </a:txBody>
                  <a:tcPr anchor="ctr">
                    <a:lnL>
                      <a:noFill/>
                    </a:lnL>
                    <a:lnR>
                      <a:noFill/>
                    </a:lnR>
                    <a:lnT>
                      <a:noFill/>
                    </a:lnT>
                    <a:lnB>
                      <a:noFill/>
                    </a:lnB>
                    <a:solidFill>
                      <a:srgbClr val="FFFFFF"/>
                    </a:solidFill>
                  </a:tcPr>
                </a:tc>
                <a:tc>
                  <a:txBody>
                    <a:bodyPr/>
                    <a:lstStyle/>
                    <a:p>
                      <a:pPr algn="r" fontAlgn="ctr"/>
                      <a:r>
                        <a:rPr lang="en-GB">
                          <a:effectLst/>
                        </a:rPr>
                        <a:t>2.614913</a:t>
                      </a:r>
                    </a:p>
                  </a:txBody>
                  <a:tcPr anchor="ctr">
                    <a:lnL>
                      <a:noFill/>
                    </a:lnL>
                    <a:lnR>
                      <a:noFill/>
                    </a:lnR>
                    <a:lnT>
                      <a:noFill/>
                    </a:lnT>
                    <a:lnB>
                      <a:noFill/>
                    </a:lnB>
                    <a:solidFill>
                      <a:srgbClr val="FFFFFF"/>
                    </a:solidFill>
                  </a:tcPr>
                </a:tc>
                <a:tc>
                  <a:txBody>
                    <a:bodyPr/>
                    <a:lstStyle/>
                    <a:p>
                      <a:pPr algn="r" fontAlgn="ctr"/>
                      <a:r>
                        <a:rPr lang="en-GB">
                          <a:effectLst/>
                        </a:rPr>
                        <a:t>2.297590</a:t>
                      </a:r>
                    </a:p>
                  </a:txBody>
                  <a:tcPr anchor="ctr">
                    <a:lnL>
                      <a:noFill/>
                    </a:lnL>
                    <a:lnR>
                      <a:noFill/>
                    </a:lnR>
                    <a:lnT>
                      <a:noFill/>
                    </a:lnT>
                    <a:lnB>
                      <a:noFill/>
                    </a:lnB>
                    <a:solidFill>
                      <a:srgbClr val="FFFFFF"/>
                    </a:solidFill>
                  </a:tcPr>
                </a:tc>
                <a:extLst>
                  <a:ext uri="{0D108BD9-81ED-4DB2-BD59-A6C34878D82A}">
                    <a16:rowId xmlns:a16="http://schemas.microsoft.com/office/drawing/2014/main" val="2444743997"/>
                  </a:ext>
                </a:extLst>
              </a:tr>
              <a:tr h="307955">
                <a:tc>
                  <a:txBody>
                    <a:bodyPr/>
                    <a:lstStyle/>
                    <a:p>
                      <a:pPr algn="r" fontAlgn="ctr"/>
                      <a:r>
                        <a:rPr lang="en-GB" b="1">
                          <a:effectLst/>
                        </a:rPr>
                        <a:t>Pulses</a:t>
                      </a:r>
                    </a:p>
                  </a:txBody>
                  <a:tcPr anchor="ctr">
                    <a:lnL>
                      <a:noFill/>
                    </a:lnL>
                    <a:lnR>
                      <a:noFill/>
                    </a:lnR>
                    <a:lnT>
                      <a:noFill/>
                    </a:lnT>
                    <a:lnB>
                      <a:noFill/>
                    </a:lnB>
                    <a:solidFill>
                      <a:srgbClr val="FFFFFF"/>
                    </a:solidFill>
                  </a:tcPr>
                </a:tc>
                <a:tc>
                  <a:txBody>
                    <a:bodyPr/>
                    <a:lstStyle/>
                    <a:p>
                      <a:pPr algn="r" fontAlgn="ctr"/>
                      <a:r>
                        <a:rPr lang="en-GB">
                          <a:effectLst/>
                        </a:rPr>
                        <a:t>1.036063</a:t>
                      </a:r>
                    </a:p>
                  </a:txBody>
                  <a:tcPr anchor="ctr">
                    <a:lnL>
                      <a:noFill/>
                    </a:lnL>
                    <a:lnR>
                      <a:noFill/>
                    </a:lnR>
                    <a:lnT>
                      <a:noFill/>
                    </a:lnT>
                    <a:lnB>
                      <a:noFill/>
                    </a:lnB>
                    <a:solidFill>
                      <a:srgbClr val="FFFFFF"/>
                    </a:solidFill>
                  </a:tcPr>
                </a:tc>
                <a:tc>
                  <a:txBody>
                    <a:bodyPr/>
                    <a:lstStyle/>
                    <a:p>
                      <a:pPr algn="r" fontAlgn="ctr"/>
                      <a:r>
                        <a:rPr lang="en-GB">
                          <a:effectLst/>
                        </a:rPr>
                        <a:t>0.871887</a:t>
                      </a:r>
                    </a:p>
                  </a:txBody>
                  <a:tcPr anchor="ctr">
                    <a:lnL>
                      <a:noFill/>
                    </a:lnL>
                    <a:lnR>
                      <a:noFill/>
                    </a:lnR>
                    <a:lnT>
                      <a:noFill/>
                    </a:lnT>
                    <a:lnB>
                      <a:noFill/>
                    </a:lnB>
                    <a:solidFill>
                      <a:srgbClr val="FFFFFF"/>
                    </a:solidFill>
                  </a:tcPr>
                </a:tc>
                <a:tc>
                  <a:txBody>
                    <a:bodyPr/>
                    <a:lstStyle/>
                    <a:p>
                      <a:pPr algn="r" fontAlgn="ctr"/>
                      <a:r>
                        <a:rPr lang="en-GB">
                          <a:effectLst/>
                        </a:rPr>
                        <a:t>0.652131</a:t>
                      </a:r>
                    </a:p>
                  </a:txBody>
                  <a:tcPr anchor="ctr">
                    <a:lnL>
                      <a:noFill/>
                    </a:lnL>
                    <a:lnR>
                      <a:noFill/>
                    </a:lnR>
                    <a:lnT>
                      <a:noFill/>
                    </a:lnT>
                    <a:lnB>
                      <a:noFill/>
                    </a:lnB>
                    <a:solidFill>
                      <a:srgbClr val="FFFFFF"/>
                    </a:solidFill>
                  </a:tcPr>
                </a:tc>
                <a:extLst>
                  <a:ext uri="{0D108BD9-81ED-4DB2-BD59-A6C34878D82A}">
                    <a16:rowId xmlns:a16="http://schemas.microsoft.com/office/drawing/2014/main" val="3743625142"/>
                  </a:ext>
                </a:extLst>
              </a:tr>
              <a:tr h="307955">
                <a:tc>
                  <a:txBody>
                    <a:bodyPr/>
                    <a:lstStyle/>
                    <a:p>
                      <a:pPr algn="r" fontAlgn="ctr"/>
                      <a:r>
                        <a:rPr lang="en-GB" b="1">
                          <a:effectLst/>
                        </a:rPr>
                        <a:t>Rice</a:t>
                      </a:r>
                    </a:p>
                  </a:txBody>
                  <a:tcPr anchor="ctr">
                    <a:lnL>
                      <a:noFill/>
                    </a:lnL>
                    <a:lnR>
                      <a:noFill/>
                    </a:lnR>
                    <a:lnT>
                      <a:noFill/>
                    </a:lnT>
                    <a:lnB>
                      <a:noFill/>
                    </a:lnB>
                    <a:solidFill>
                      <a:srgbClr val="FFFFFF"/>
                    </a:solidFill>
                  </a:tcPr>
                </a:tc>
                <a:tc>
                  <a:txBody>
                    <a:bodyPr/>
                    <a:lstStyle/>
                    <a:p>
                      <a:pPr algn="r" fontAlgn="ctr"/>
                      <a:r>
                        <a:rPr lang="en-GB" dirty="0">
                          <a:effectLst/>
                        </a:rPr>
                        <a:t>2.707621</a:t>
                      </a:r>
                    </a:p>
                  </a:txBody>
                  <a:tcPr anchor="ctr">
                    <a:lnL>
                      <a:noFill/>
                    </a:lnL>
                    <a:lnR>
                      <a:noFill/>
                    </a:lnR>
                    <a:lnT>
                      <a:noFill/>
                    </a:lnT>
                    <a:lnB>
                      <a:noFill/>
                    </a:lnB>
                    <a:solidFill>
                      <a:srgbClr val="FFFFFF"/>
                    </a:solidFill>
                  </a:tcPr>
                </a:tc>
                <a:tc>
                  <a:txBody>
                    <a:bodyPr/>
                    <a:lstStyle/>
                    <a:p>
                      <a:pPr algn="r" fontAlgn="ctr"/>
                      <a:r>
                        <a:rPr lang="en-GB" dirty="0">
                          <a:effectLst/>
                        </a:rPr>
                        <a:t>2.333680</a:t>
                      </a:r>
                    </a:p>
                  </a:txBody>
                  <a:tcPr anchor="ctr">
                    <a:lnL>
                      <a:noFill/>
                    </a:lnL>
                    <a:lnR>
                      <a:noFill/>
                    </a:lnR>
                    <a:lnT>
                      <a:noFill/>
                    </a:lnT>
                    <a:lnB>
                      <a:noFill/>
                    </a:lnB>
                    <a:solidFill>
                      <a:srgbClr val="FFFFFF"/>
                    </a:solidFill>
                  </a:tcPr>
                </a:tc>
                <a:tc>
                  <a:txBody>
                    <a:bodyPr/>
                    <a:lstStyle/>
                    <a:p>
                      <a:pPr algn="r" fontAlgn="ctr"/>
                      <a:r>
                        <a:rPr lang="en-GB" dirty="0">
                          <a:effectLst/>
                        </a:rPr>
                        <a:t>1.900490</a:t>
                      </a:r>
                    </a:p>
                  </a:txBody>
                  <a:tcPr anchor="ctr">
                    <a:lnL>
                      <a:noFill/>
                    </a:lnL>
                    <a:lnR>
                      <a:noFill/>
                    </a:lnR>
                    <a:lnT>
                      <a:noFill/>
                    </a:lnT>
                    <a:lnB>
                      <a:noFill/>
                    </a:lnB>
                    <a:solidFill>
                      <a:srgbClr val="FFFFFF"/>
                    </a:solidFill>
                  </a:tcPr>
                </a:tc>
                <a:extLst>
                  <a:ext uri="{0D108BD9-81ED-4DB2-BD59-A6C34878D82A}">
                    <a16:rowId xmlns:a16="http://schemas.microsoft.com/office/drawing/2014/main" val="3532094968"/>
                  </a:ext>
                </a:extLst>
              </a:tr>
              <a:tr h="307955">
                <a:tc>
                  <a:txBody>
                    <a:bodyPr/>
                    <a:lstStyle/>
                    <a:p>
                      <a:pPr algn="r" fontAlgn="ctr"/>
                      <a:r>
                        <a:rPr lang="en-GB" b="1">
                          <a:effectLst/>
                        </a:rPr>
                        <a:t>Sugarcane</a:t>
                      </a:r>
                    </a:p>
                  </a:txBody>
                  <a:tcPr anchor="ctr">
                    <a:lnL>
                      <a:noFill/>
                    </a:lnL>
                    <a:lnR>
                      <a:noFill/>
                    </a:lnR>
                    <a:lnT>
                      <a:noFill/>
                    </a:lnT>
                    <a:lnB>
                      <a:noFill/>
                    </a:lnB>
                    <a:solidFill>
                      <a:srgbClr val="FFFFFF"/>
                    </a:solidFill>
                  </a:tcPr>
                </a:tc>
                <a:tc>
                  <a:txBody>
                    <a:bodyPr/>
                    <a:lstStyle/>
                    <a:p>
                      <a:pPr algn="r" fontAlgn="ctr"/>
                      <a:r>
                        <a:rPr lang="en-GB" dirty="0">
                          <a:effectLst/>
                        </a:rPr>
                        <a:t>53.459120</a:t>
                      </a:r>
                    </a:p>
                  </a:txBody>
                  <a:tcPr anchor="ctr">
                    <a:lnL>
                      <a:noFill/>
                    </a:lnL>
                    <a:lnR>
                      <a:noFill/>
                    </a:lnR>
                    <a:lnT>
                      <a:noFill/>
                    </a:lnT>
                    <a:lnB>
                      <a:noFill/>
                    </a:lnB>
                    <a:solidFill>
                      <a:srgbClr val="FFFFFF"/>
                    </a:solidFill>
                  </a:tcPr>
                </a:tc>
                <a:tc>
                  <a:txBody>
                    <a:bodyPr/>
                    <a:lstStyle/>
                    <a:p>
                      <a:pPr algn="r" fontAlgn="ctr"/>
                      <a:r>
                        <a:rPr lang="en-GB">
                          <a:effectLst/>
                        </a:rPr>
                        <a:t>43.940394</a:t>
                      </a:r>
                    </a:p>
                  </a:txBody>
                  <a:tcPr anchor="ctr">
                    <a:lnL>
                      <a:noFill/>
                    </a:lnL>
                    <a:lnR>
                      <a:noFill/>
                    </a:lnR>
                    <a:lnT>
                      <a:noFill/>
                    </a:lnT>
                    <a:lnB>
                      <a:noFill/>
                    </a:lnB>
                    <a:solidFill>
                      <a:srgbClr val="FFFFFF"/>
                    </a:solidFill>
                  </a:tcPr>
                </a:tc>
                <a:tc>
                  <a:txBody>
                    <a:bodyPr/>
                    <a:lstStyle/>
                    <a:p>
                      <a:pPr algn="r" fontAlgn="ctr"/>
                      <a:r>
                        <a:rPr lang="en-GB">
                          <a:effectLst/>
                        </a:rPr>
                        <a:t>38.423922</a:t>
                      </a:r>
                    </a:p>
                  </a:txBody>
                  <a:tcPr anchor="ctr">
                    <a:lnL>
                      <a:noFill/>
                    </a:lnL>
                    <a:lnR>
                      <a:noFill/>
                    </a:lnR>
                    <a:lnT>
                      <a:noFill/>
                    </a:lnT>
                    <a:lnB>
                      <a:noFill/>
                    </a:lnB>
                    <a:solidFill>
                      <a:srgbClr val="FFFFFF"/>
                    </a:solidFill>
                  </a:tcPr>
                </a:tc>
                <a:extLst>
                  <a:ext uri="{0D108BD9-81ED-4DB2-BD59-A6C34878D82A}">
                    <a16:rowId xmlns:a16="http://schemas.microsoft.com/office/drawing/2014/main" val="1558308099"/>
                  </a:ext>
                </a:extLst>
              </a:tr>
              <a:tr h="307955">
                <a:tc>
                  <a:txBody>
                    <a:bodyPr/>
                    <a:lstStyle/>
                    <a:p>
                      <a:pPr algn="r" fontAlgn="ctr"/>
                      <a:r>
                        <a:rPr lang="en-GB" b="1">
                          <a:effectLst/>
                        </a:rPr>
                        <a:t>Wheat</a:t>
                      </a:r>
                    </a:p>
                  </a:txBody>
                  <a:tcPr anchor="ctr">
                    <a:lnL>
                      <a:noFill/>
                    </a:lnL>
                    <a:lnR>
                      <a:noFill/>
                    </a:lnR>
                    <a:lnT>
                      <a:noFill/>
                    </a:lnT>
                    <a:lnB>
                      <a:noFill/>
                    </a:lnB>
                    <a:solidFill>
                      <a:srgbClr val="FFFFFF"/>
                    </a:solidFill>
                  </a:tcPr>
                </a:tc>
                <a:tc>
                  <a:txBody>
                    <a:bodyPr/>
                    <a:lstStyle/>
                    <a:p>
                      <a:pPr algn="r" fontAlgn="ctr"/>
                      <a:r>
                        <a:rPr lang="en-GB">
                          <a:effectLst/>
                        </a:rPr>
                        <a:t>2.255430</a:t>
                      </a:r>
                    </a:p>
                  </a:txBody>
                  <a:tcPr anchor="ctr">
                    <a:lnL>
                      <a:noFill/>
                    </a:lnL>
                    <a:lnR>
                      <a:noFill/>
                    </a:lnR>
                    <a:lnT>
                      <a:noFill/>
                    </a:lnT>
                    <a:lnB>
                      <a:noFill/>
                    </a:lnB>
                    <a:solidFill>
                      <a:srgbClr val="FFFFFF"/>
                    </a:solidFill>
                  </a:tcPr>
                </a:tc>
                <a:tc>
                  <a:txBody>
                    <a:bodyPr/>
                    <a:lstStyle/>
                    <a:p>
                      <a:pPr algn="r" fontAlgn="ctr"/>
                      <a:r>
                        <a:rPr lang="en-GB">
                          <a:effectLst/>
                        </a:rPr>
                        <a:t>2.058814</a:t>
                      </a:r>
                    </a:p>
                  </a:txBody>
                  <a:tcPr anchor="ctr">
                    <a:lnL>
                      <a:noFill/>
                    </a:lnL>
                    <a:lnR>
                      <a:noFill/>
                    </a:lnR>
                    <a:lnT>
                      <a:noFill/>
                    </a:lnT>
                    <a:lnB>
                      <a:noFill/>
                    </a:lnB>
                    <a:solidFill>
                      <a:srgbClr val="FFFFFF"/>
                    </a:solidFill>
                  </a:tcPr>
                </a:tc>
                <a:tc>
                  <a:txBody>
                    <a:bodyPr/>
                    <a:lstStyle/>
                    <a:p>
                      <a:pPr algn="r" fontAlgn="ctr"/>
                      <a:r>
                        <a:rPr lang="en-GB" dirty="0">
                          <a:effectLst/>
                        </a:rPr>
                        <a:t>1.748588</a:t>
                      </a:r>
                    </a:p>
                  </a:txBody>
                  <a:tcPr anchor="ctr">
                    <a:lnL>
                      <a:noFill/>
                    </a:lnL>
                    <a:lnR>
                      <a:noFill/>
                    </a:lnR>
                    <a:lnT>
                      <a:noFill/>
                    </a:lnT>
                    <a:lnB>
                      <a:noFill/>
                    </a:lnB>
                    <a:solidFill>
                      <a:srgbClr val="FFFFFF"/>
                    </a:solidFill>
                  </a:tcPr>
                </a:tc>
                <a:extLst>
                  <a:ext uri="{0D108BD9-81ED-4DB2-BD59-A6C34878D82A}">
                    <a16:rowId xmlns:a16="http://schemas.microsoft.com/office/drawing/2014/main" val="3590720150"/>
                  </a:ext>
                </a:extLst>
              </a:tr>
            </a:tbl>
          </a:graphicData>
        </a:graphic>
      </p:graphicFrame>
      <p:sp>
        <p:nvSpPr>
          <p:cNvPr id="3" name="Rectangle 2">
            <a:extLst>
              <a:ext uri="{FF2B5EF4-FFF2-40B4-BE49-F238E27FC236}">
                <a16:creationId xmlns:a16="http://schemas.microsoft.com/office/drawing/2014/main" id="{35E1C595-358F-4D01-A2B9-B7E3805CC8C0}"/>
              </a:ext>
            </a:extLst>
          </p:cNvPr>
          <p:cNvSpPr/>
          <p:nvPr/>
        </p:nvSpPr>
        <p:spPr>
          <a:xfrm>
            <a:off x="5195698" y="4649667"/>
            <a:ext cx="6096000" cy="1323439"/>
          </a:xfrm>
          <a:prstGeom prst="rect">
            <a:avLst/>
          </a:prstGeom>
        </p:spPr>
        <p:txBody>
          <a:bodyPr>
            <a:spAutoFit/>
          </a:bodyPr>
          <a:lstStyle/>
          <a:p>
            <a:r>
              <a:rPr lang="en-GB" sz="1000" dirty="0" err="1"/>
              <a:t>season_crop</a:t>
            </a:r>
            <a:r>
              <a:rPr lang="en-GB" sz="1000" dirty="0"/>
              <a:t> = </a:t>
            </a:r>
            <a:r>
              <a:rPr lang="en-GB" sz="1000" dirty="0" err="1"/>
              <a:t>df.pivot_table</a:t>
            </a:r>
            <a:r>
              <a:rPr lang="en-GB" sz="1000" dirty="0"/>
              <a:t>(</a:t>
            </a:r>
          </a:p>
          <a:p>
            <a:r>
              <a:rPr lang="en-GB" sz="1000" dirty="0"/>
              <a:t>    values="</a:t>
            </a:r>
            <a:r>
              <a:rPr lang="en-GB" sz="1000" dirty="0" err="1"/>
              <a:t>Yield_Tonnes_Ha</a:t>
            </a:r>
            <a:r>
              <a:rPr lang="en-GB" sz="1000" dirty="0"/>
              <a:t>",</a:t>
            </a:r>
          </a:p>
          <a:p>
            <a:r>
              <a:rPr lang="en-GB" sz="1000" dirty="0"/>
              <a:t>    index="Crop",</a:t>
            </a:r>
          </a:p>
          <a:p>
            <a:r>
              <a:rPr lang="en-GB" sz="1000" dirty="0"/>
              <a:t>    columns="Season",</a:t>
            </a:r>
          </a:p>
          <a:p>
            <a:r>
              <a:rPr lang="en-GB" sz="1000" dirty="0"/>
              <a:t>    </a:t>
            </a:r>
            <a:r>
              <a:rPr lang="en-GB" sz="1000" dirty="0" err="1"/>
              <a:t>aggfunc</a:t>
            </a:r>
            <a:r>
              <a:rPr lang="en-GB" sz="1000" dirty="0"/>
              <a:t>="mean"</a:t>
            </a:r>
          </a:p>
          <a:p>
            <a:r>
              <a:rPr lang="en-GB" sz="1000" dirty="0"/>
              <a:t>)</a:t>
            </a:r>
          </a:p>
          <a:p>
            <a:endParaRPr lang="en-GB" sz="1000" dirty="0"/>
          </a:p>
          <a:p>
            <a:r>
              <a:rPr lang="en-GB" sz="1000" dirty="0" err="1"/>
              <a:t>season_crop</a:t>
            </a:r>
            <a:endParaRPr lang="en-GB" sz="1000"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Effect transition="in" filter="fade">
                                      <p:cBhvr>
                                        <p:cTn id="42" dur="1000"/>
                                        <p:tgtEl>
                                          <p:spTgt spid="10">
                                            <p:txEl>
                                              <p:pRg st="4" end="4"/>
                                            </p:txEl>
                                          </p:spTgt>
                                        </p:tgtEl>
                                      </p:cBhvr>
                                    </p:animEffect>
                                    <p:anim calcmode="lin" valueType="num">
                                      <p:cBhvr>
                                        <p:cTn id="43"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5" end="5"/>
                                            </p:txEl>
                                          </p:spTgt>
                                        </p:tgtEl>
                                        <p:attrNameLst>
                                          <p:attrName>style.visibility</p:attrName>
                                        </p:attrNameLst>
                                      </p:cBhvr>
                                      <p:to>
                                        <p:strVal val="visible"/>
                                      </p:to>
                                    </p:set>
                                    <p:animEffect transition="in" filter="fade">
                                      <p:cBhvr>
                                        <p:cTn id="49" dur="1000"/>
                                        <p:tgtEl>
                                          <p:spTgt spid="10">
                                            <p:txEl>
                                              <p:pRg st="5" end="5"/>
                                            </p:txEl>
                                          </p:spTgt>
                                        </p:tgtEl>
                                      </p:cBhvr>
                                    </p:animEffect>
                                    <p:anim calcmode="lin" valueType="num">
                                      <p:cBhvr>
                                        <p:cTn id="50"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6" end="6"/>
                                            </p:txEl>
                                          </p:spTgt>
                                        </p:tgtEl>
                                        <p:attrNameLst>
                                          <p:attrName>style.visibility</p:attrName>
                                        </p:attrNameLst>
                                      </p:cBhvr>
                                      <p:to>
                                        <p:strVal val="visible"/>
                                      </p:to>
                                    </p:set>
                                    <p:animEffect transition="in" filter="fade">
                                      <p:cBhvr>
                                        <p:cTn id="56" dur="1000"/>
                                        <p:tgtEl>
                                          <p:spTgt spid="10">
                                            <p:txEl>
                                              <p:pRg st="6" end="6"/>
                                            </p:txEl>
                                          </p:spTgt>
                                        </p:tgtEl>
                                      </p:cBhvr>
                                    </p:animEffect>
                                    <p:anim calcmode="lin" valueType="num">
                                      <p:cBhvr>
                                        <p:cTn id="57"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7" end="7"/>
                                            </p:txEl>
                                          </p:spTgt>
                                        </p:tgtEl>
                                        <p:attrNameLst>
                                          <p:attrName>style.visibility</p:attrName>
                                        </p:attrNameLst>
                                      </p:cBhvr>
                                      <p:to>
                                        <p:strVal val="visible"/>
                                      </p:to>
                                    </p:set>
                                    <p:animEffect transition="in" filter="fade">
                                      <p:cBhvr>
                                        <p:cTn id="63" dur="1000"/>
                                        <p:tgtEl>
                                          <p:spTgt spid="10">
                                            <p:txEl>
                                              <p:pRg st="7" end="7"/>
                                            </p:txEl>
                                          </p:spTgt>
                                        </p:tgtEl>
                                      </p:cBhvr>
                                    </p:animEffect>
                                    <p:anim calcmode="lin" valueType="num">
                                      <p:cBhvr>
                                        <p:cTn id="64"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8" end="8"/>
                                            </p:txEl>
                                          </p:spTgt>
                                        </p:tgtEl>
                                        <p:attrNameLst>
                                          <p:attrName>style.visibility</p:attrName>
                                        </p:attrNameLst>
                                      </p:cBhvr>
                                      <p:to>
                                        <p:strVal val="visible"/>
                                      </p:to>
                                    </p:set>
                                    <p:animEffect transition="in" filter="fade">
                                      <p:cBhvr>
                                        <p:cTn id="70" dur="1000"/>
                                        <p:tgtEl>
                                          <p:spTgt spid="10">
                                            <p:txEl>
                                              <p:pRg st="8" end="8"/>
                                            </p:txEl>
                                          </p:spTgt>
                                        </p:tgtEl>
                                      </p:cBhvr>
                                    </p:animEffect>
                                    <p:anim calcmode="lin" valueType="num">
                                      <p:cBhvr>
                                        <p:cTn id="71"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170" name="Picture 2">
            <a:extLst>
              <a:ext uri="{FF2B5EF4-FFF2-40B4-BE49-F238E27FC236}">
                <a16:creationId xmlns:a16="http://schemas.microsoft.com/office/drawing/2014/main" id="{ACE51A24-88CF-40A0-9D98-2895F4242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164" y="2579915"/>
            <a:ext cx="5162826" cy="337593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FD193D7-2A67-43DC-A834-495EAB0790E8}"/>
              </a:ext>
            </a:extLst>
          </p:cNvPr>
          <p:cNvSpPr/>
          <p:nvPr/>
        </p:nvSpPr>
        <p:spPr>
          <a:xfrm>
            <a:off x="1265390" y="1415069"/>
            <a:ext cx="5479457" cy="1200329"/>
          </a:xfrm>
          <a:prstGeom prst="rect">
            <a:avLst/>
          </a:prstGeom>
        </p:spPr>
        <p:txBody>
          <a:bodyPr wrap="square">
            <a:spAutoFit/>
          </a:bodyPr>
          <a:lstStyle/>
          <a:p>
            <a:r>
              <a:rPr lang="en-GB" sz="800" dirty="0" err="1"/>
              <a:t>plt.figure</a:t>
            </a:r>
            <a:r>
              <a:rPr lang="en-GB" sz="800" dirty="0"/>
              <a:t>(</a:t>
            </a:r>
            <a:r>
              <a:rPr lang="en-GB" sz="800" dirty="0" err="1"/>
              <a:t>figsize</a:t>
            </a:r>
            <a:r>
              <a:rPr lang="en-GB" sz="800" dirty="0"/>
              <a:t>=(10,6))</a:t>
            </a:r>
          </a:p>
          <a:p>
            <a:endParaRPr lang="en-GB" sz="800" dirty="0"/>
          </a:p>
          <a:p>
            <a:r>
              <a:rPr lang="en-GB" sz="800" dirty="0" err="1"/>
              <a:t>crop_yield.plot</a:t>
            </a:r>
            <a:r>
              <a:rPr lang="en-GB" sz="800" dirty="0"/>
              <a:t>(kind="bar")</a:t>
            </a:r>
          </a:p>
          <a:p>
            <a:endParaRPr lang="en-GB" sz="800" dirty="0"/>
          </a:p>
          <a:p>
            <a:r>
              <a:rPr lang="en-GB" sz="800" dirty="0" err="1"/>
              <a:t>plt.title</a:t>
            </a:r>
            <a:r>
              <a:rPr lang="en-GB" sz="800" dirty="0"/>
              <a:t>("Average Yield by Crop")</a:t>
            </a:r>
          </a:p>
          <a:p>
            <a:r>
              <a:rPr lang="en-GB" sz="800" dirty="0" err="1"/>
              <a:t>plt.xlabel</a:t>
            </a:r>
            <a:r>
              <a:rPr lang="en-GB" sz="800" dirty="0"/>
              <a:t>("Crop")</a:t>
            </a:r>
          </a:p>
          <a:p>
            <a:r>
              <a:rPr lang="en-GB" sz="800" dirty="0" err="1"/>
              <a:t>plt.ylabel</a:t>
            </a:r>
            <a:r>
              <a:rPr lang="en-GB" sz="800" dirty="0"/>
              <a:t>("Average Yield (Tonnes/Ha)")</a:t>
            </a:r>
          </a:p>
          <a:p>
            <a:r>
              <a:rPr lang="en-GB" sz="800" dirty="0" err="1"/>
              <a:t>plt.xticks</a:t>
            </a:r>
            <a:r>
              <a:rPr lang="en-GB" sz="800" dirty="0"/>
              <a:t>(rotation=45)</a:t>
            </a:r>
          </a:p>
          <a:p>
            <a:r>
              <a:rPr lang="en-GB" sz="800" dirty="0" err="1"/>
              <a:t>plt.show</a:t>
            </a:r>
            <a:r>
              <a:rPr lang="en-GB" sz="800" dirty="0"/>
              <a:t>()</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8194" name="Picture 2">
            <a:extLst>
              <a:ext uri="{FF2B5EF4-FFF2-40B4-BE49-F238E27FC236}">
                <a16:creationId xmlns:a16="http://schemas.microsoft.com/office/drawing/2014/main" id="{51267D35-7E69-4F16-B4D3-6537272E1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983" y="1355273"/>
            <a:ext cx="4827232" cy="333919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5DD18AD-5B64-4043-A353-435796F93320}"/>
              </a:ext>
            </a:extLst>
          </p:cNvPr>
          <p:cNvSpPr/>
          <p:nvPr/>
        </p:nvSpPr>
        <p:spPr>
          <a:xfrm>
            <a:off x="5546272" y="2039541"/>
            <a:ext cx="3450771" cy="1692771"/>
          </a:xfrm>
          <a:prstGeom prst="rect">
            <a:avLst/>
          </a:prstGeom>
        </p:spPr>
        <p:txBody>
          <a:bodyPr wrap="square">
            <a:spAutoFit/>
          </a:bodyPr>
          <a:lstStyle/>
          <a:p>
            <a:r>
              <a:rPr lang="en-GB" sz="800" dirty="0" err="1"/>
              <a:t>plt.figure</a:t>
            </a:r>
            <a:r>
              <a:rPr lang="en-GB" sz="800" dirty="0"/>
              <a:t>(</a:t>
            </a:r>
            <a:r>
              <a:rPr lang="en-GB" sz="800" dirty="0" err="1"/>
              <a:t>figsize</a:t>
            </a:r>
            <a:r>
              <a:rPr lang="en-GB" sz="800" dirty="0"/>
              <a:t>=(8,5))</a:t>
            </a:r>
          </a:p>
          <a:p>
            <a:endParaRPr lang="en-GB" sz="800" dirty="0"/>
          </a:p>
          <a:p>
            <a:r>
              <a:rPr lang="en-GB" sz="800" dirty="0" err="1"/>
              <a:t>sns.barplot</a:t>
            </a:r>
            <a:r>
              <a:rPr lang="en-GB" sz="800" dirty="0"/>
              <a:t>(</a:t>
            </a:r>
          </a:p>
          <a:p>
            <a:r>
              <a:rPr lang="en-GB" sz="800" dirty="0"/>
              <a:t>    data=df,</a:t>
            </a:r>
          </a:p>
          <a:p>
            <a:r>
              <a:rPr lang="en-GB" sz="800" dirty="0"/>
              <a:t>    x="Season",</a:t>
            </a:r>
          </a:p>
          <a:p>
            <a:r>
              <a:rPr lang="en-GB" sz="800" dirty="0"/>
              <a:t>    y="Water_Efficiency_t_per_1000m3",</a:t>
            </a:r>
          </a:p>
          <a:p>
            <a:r>
              <a:rPr lang="en-GB" sz="800" dirty="0"/>
              <a:t>    estimator="mean"</a:t>
            </a:r>
          </a:p>
          <a:p>
            <a:r>
              <a:rPr lang="en-GB" sz="800" dirty="0"/>
              <a:t>)</a:t>
            </a:r>
          </a:p>
          <a:p>
            <a:endParaRPr lang="en-GB" sz="800" dirty="0"/>
          </a:p>
          <a:p>
            <a:r>
              <a:rPr lang="en-GB" sz="800" dirty="0" err="1"/>
              <a:t>plt.title</a:t>
            </a:r>
            <a:r>
              <a:rPr lang="en-GB" sz="800" dirty="0"/>
              <a:t>("Water Efficiency by Season")</a:t>
            </a:r>
          </a:p>
          <a:p>
            <a:r>
              <a:rPr lang="en-GB" sz="800" dirty="0" err="1"/>
              <a:t>plt.xlabel</a:t>
            </a:r>
            <a:r>
              <a:rPr lang="en-GB" sz="800" dirty="0"/>
              <a:t>("Season")</a:t>
            </a:r>
          </a:p>
          <a:p>
            <a:r>
              <a:rPr lang="en-GB" sz="800" dirty="0" err="1"/>
              <a:t>plt.ylabel</a:t>
            </a:r>
            <a:r>
              <a:rPr lang="en-GB" sz="800" dirty="0"/>
              <a:t>("Water Efficiency")</a:t>
            </a:r>
          </a:p>
          <a:p>
            <a:r>
              <a:rPr lang="en-GB" sz="800" dirty="0" err="1"/>
              <a:t>plt.show</a:t>
            </a:r>
            <a:r>
              <a:rPr lang="en-GB" sz="800" dirty="0"/>
              <a:t>()</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ectangle 2">
            <a:extLst>
              <a:ext uri="{FF2B5EF4-FFF2-40B4-BE49-F238E27FC236}">
                <a16:creationId xmlns:a16="http://schemas.microsoft.com/office/drawing/2014/main" id="{981AE481-628F-4ECF-872A-218C369A3D4D}"/>
              </a:ext>
            </a:extLst>
          </p:cNvPr>
          <p:cNvSpPr>
            <a:spLocks noChangeArrowheads="1"/>
          </p:cNvSpPr>
          <p:nvPr/>
        </p:nvSpPr>
        <p:spPr bwMode="auto">
          <a:xfrm>
            <a:off x="522514" y="1090723"/>
            <a:ext cx="726673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Analyze agricultural performance using more years of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Include additional weather and market-related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crop-wise seasonal prediction models.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Study regional differences in greater detail.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early-warning insights for crop and pest risks.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Build an interactive dashboard for farmers and agricultural planners. </a:t>
            </a:r>
          </a:p>
        </p:txBody>
      </p:sp>
      <p:sp>
        <p:nvSpPr>
          <p:cNvPr id="6" name="Rectangle 3">
            <a:extLst>
              <a:ext uri="{FF2B5EF4-FFF2-40B4-BE49-F238E27FC236}">
                <a16:creationId xmlns:a16="http://schemas.microsoft.com/office/drawing/2014/main" id="{C5810D34-F763-45E5-9321-47619EC6682D}"/>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19"/>
            <a:ext cx="5921710" cy="1754326"/>
          </a:xfrm>
          <a:prstGeom prst="rect">
            <a:avLst/>
          </a:prstGeom>
          <a:noFill/>
        </p:spPr>
        <p:txBody>
          <a:bodyPr wrap="square">
            <a:spAutoFit/>
          </a:bodyPr>
          <a:lstStyle/>
          <a:p>
            <a:r>
              <a:rPr lang="en-IN" dirty="0">
                <a:hlinkClick r:id="rId3"/>
              </a:rPr>
              <a:t>anshikamaurya7/Seasonal-Agriculture-Performance-Analysis: A Python-based data analytics project that explores how agricultural performance varies across Kharif, Rabi, and Zaid seasons using crop, environmental, resource, yield, water-efficiency, and financial data.</a:t>
            </a:r>
            <a:endParaRPr lang="en-US" b="1"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2891F78-18FB-0D09-817B-3DE9FC07E37C}"/>
              </a:ext>
            </a:extLst>
          </p:cNvPr>
          <p:cNvPicPr>
            <a:picLocks noChangeAspect="1"/>
          </p:cNvPicPr>
          <p:nvPr/>
        </p:nvPicPr>
        <p:blipFill>
          <a:blip r:embed="rId3"/>
          <a:stretch>
            <a:fillRect/>
          </a:stretch>
        </p:blipFill>
        <p:spPr>
          <a:xfrm>
            <a:off x="675957" y="1466490"/>
            <a:ext cx="6999976" cy="527074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71af3243-3dd4-4a8d-8c0d-dd76da1f02a5"/>
    <ds:schemaRef ds:uri="http://www.w3.org/XML/1998/namespace"/>
    <ds:schemaRef ds:uri="16c05727-aa75-4e4a-9b5f-8a80a1165891"/>
    <ds:schemaRef ds:uri="http://schemas.microsoft.com/office/2006/documentManagement/types"/>
    <ds:schemaRef ds:uri="http://purl.org/dc/terms/"/>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Facet</Template>
  <TotalTime>1610</TotalTime>
  <Words>874</Words>
  <Application>Microsoft Office PowerPoint</Application>
  <PresentationFormat>Widescreen</PresentationFormat>
  <Paragraphs>167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This project analyses agricultural data from different seasons to understand variations in crop performance. The analysis includes data cleaning, exploratory data analysis, seasonal comparison and visualization. The project examines factors such as rainfall, temperature, soil conditions, irrigation, fertilizer usage, crop yield, production, water usage, revenue and profit. The results are used to identify seasonal patterns and provide data-based insights for better agriculture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Anshika Maurya</cp:lastModifiedBy>
  <cp:revision>114</cp:revision>
  <dcterms:created xsi:type="dcterms:W3CDTF">2021-07-11T13:13:15Z</dcterms:created>
  <dcterms:modified xsi:type="dcterms:W3CDTF">2026-09-10T14:48:07Z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